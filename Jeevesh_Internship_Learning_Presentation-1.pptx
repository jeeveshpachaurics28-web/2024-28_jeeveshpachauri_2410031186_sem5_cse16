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internship as a four-week practical exposure at RSWM Limited. The presentation focuses on what was learned in cybersecurity, networking, and data centre monitoring.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internship was designed to connect classroom concepts with an enterprise environment. Emphasize the practical focus on networking, cybersecurity, infrastructure,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 report's description of cybersecurity at RSWM to the rest of the presentation. Highlight layered security: network controls, access management, monitoring, audits, and awareness.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network from branch locations to Head Office. MPLS is the primary WAN path, SD-WAN provides backup, the firewall filters traffic, the router directs traffic, and the switch connects internal devices and servers. IPS/IDS adds another monitoring and protection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layered design shown in the report: access points feed the core switch; the DMZ and firewall handle external traffic; the DLS switch connects to SD-WAN and MPLS; the server farm connects through the Nexus 9000.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report's Tower 1/Tower 2 switching diagram as the mental model. Explain why access, core, and distribution layers are separated and why fiber is useful between buildings or longer-distance segments.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monitoring as continuous observation of system behavior. The report shows dashboard monitoring of PAC units, UPS, infrastructure devices, Purafil, CCTV, and business systems. Emphasize that monitoring supports early detection and operational continuity.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policy into six practical areas. Stress that security includes technical controls such as firewalls and VLANs, identity controls such as MFA and role-based access, and physical/environmental controls such as CCTV, UPS, cooling, and restricted access.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reflection slide. Focus on the user's requested keywords: networking and database/data-centre monitoring. Note that the report specifically describes a database server within the server farm and monitoring of infrastructure and business systems; it does not document a separate database-administration project.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linking the three major learning outcomes: connect systems through networking, monitor infrastructure continuously, and protect access and operations through layered security.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07040" cy="1371600"/>
          </a:xfrm>
          <a:prstGeom prst="rect">
            <a:avLst/>
          </a:prstGeom>
          <a:noFill/>
        </p:spPr>
        <p:txBody>
          <a:bodyPr wrap="none">
            <a:spAutoFit/>
          </a:bodyPr>
          <a:lstStyle/>
          <a:p>
            <a:pPr>
              <a:defRPr sz="3400" b="1">
                <a:solidFill>
                  <a:srgbClr val="FFFFFF"/>
                </a:solidFill>
              </a:defRPr>
            </a:pPr>
            <a:r>
              <a:t>WHAT I LEARNT DURING</a:t>
            </a:r>
            <a:br/>
            <a:r>
              <a:t>MY SUMMER INTERNSHIP</a:t>
            </a:r>
          </a:p>
        </p:txBody>
      </p:sp>
      <p:sp>
        <p:nvSpPr>
          <p:cNvPr id="5" name="TextBox 4"/>
          <p:cNvSpPr txBox="1"/>
          <p:nvPr/>
        </p:nvSpPr>
        <p:spPr>
          <a:xfrm>
            <a:off x="822960" y="2926080"/>
            <a:ext cx="9875520" cy="731520"/>
          </a:xfrm>
          <a:prstGeom prst="rect">
            <a:avLst/>
          </a:prstGeom>
          <a:noFill/>
        </p:spPr>
        <p:txBody>
          <a:bodyPr wrap="none">
            <a:spAutoFit/>
          </a:bodyPr>
          <a:lstStyle/>
          <a:p>
            <a:pPr>
              <a:defRPr sz="2000">
                <a:solidFill>
                  <a:srgbClr val="C3DCEE"/>
                </a:solidFill>
              </a:defRPr>
            </a:pPr>
            <a:r>
              <a:t>Cybersecurity • Networking • Data Centre Monitoring</a:t>
            </a:r>
          </a:p>
        </p:txBody>
      </p:sp>
      <p:sp>
        <p:nvSpPr>
          <p:cNvPr id="6" name="TextBox 5"/>
          <p:cNvSpPr txBox="1"/>
          <p:nvPr/>
        </p:nvSpPr>
        <p:spPr>
          <a:xfrm>
            <a:off x="822960" y="4069080"/>
            <a:ext cx="7772400" cy="1280160"/>
          </a:xfrm>
          <a:prstGeom prst="rect">
            <a:avLst/>
          </a:prstGeom>
          <a:noFill/>
        </p:spPr>
        <p:txBody>
          <a:bodyPr wrap="none">
            <a:spAutoFit/>
          </a:bodyPr>
          <a:lstStyle/>
          <a:p>
            <a:pPr>
              <a:spcAft>
                <a:spcPts val="700"/>
              </a:spcAft>
              <a:defRPr sz="1400">
                <a:solidFill>
                  <a:srgbClr val="FFFFFF"/>
                </a:solidFill>
              </a:defRPr>
            </a:pPr>
            <a:r>
              <a:t>RSWM Limited | LNJ Bhilwara Group</a:t>
            </a:r>
          </a:p>
          <a:p>
            <a:pPr>
              <a:spcAft>
                <a:spcPts val="700"/>
              </a:spcAft>
              <a:defRPr sz="1400">
                <a:solidFill>
                  <a:srgbClr val="FFFFFF"/>
                </a:solidFill>
              </a:defRPr>
            </a:pPr>
            <a:r>
              <a:t>Jeevesh • B.Tech CSE, IILM University</a:t>
            </a:r>
          </a:p>
          <a:p>
            <a:pPr>
              <a:spcAft>
                <a:spcPts val="700"/>
              </a:spcAft>
              <a:defRPr sz="1400">
                <a:solidFill>
                  <a:srgbClr val="FFFFFF"/>
                </a:solidFill>
              </a:defRPr>
            </a:pPr>
            <a:r>
              <a:t>Training: 8 June 2026 – 3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1. Internship Overview</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From theory to practical exposure</a:t>
            </a:r>
          </a:p>
        </p:txBody>
      </p:sp>
      <p:sp>
        <p:nvSpPr>
          <p:cNvPr id="6" name="Rounded Rectangle 5"/>
          <p:cNvSpPr/>
          <p:nvPr/>
        </p:nvSpPr>
        <p:spPr>
          <a:xfrm>
            <a:off x="594360" y="1143000"/>
            <a:ext cx="3474720" cy="18288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143000"/>
            <a:ext cx="73152" cy="1828800"/>
          </a:xfrm>
          <a:prstGeom prst="rect">
            <a:avLst/>
          </a:prstGeom>
          <a:solidFill>
            <a:srgbClr val="28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289304"/>
            <a:ext cx="3108960" cy="320040"/>
          </a:xfrm>
          <a:prstGeom prst="rect">
            <a:avLst/>
          </a:prstGeom>
          <a:noFill/>
        </p:spPr>
        <p:txBody>
          <a:bodyPr wrap="none">
            <a:spAutoFit/>
          </a:bodyPr>
          <a:lstStyle/>
          <a:p>
            <a:pPr>
              <a:defRPr b="1" sz="1700">
                <a:solidFill>
                  <a:srgbClr val="142B4B"/>
                </a:solidFill>
              </a:defRPr>
            </a:pPr>
            <a:r>
              <a:t>Training Context</a:t>
            </a:r>
          </a:p>
        </p:txBody>
      </p:sp>
      <p:sp>
        <p:nvSpPr>
          <p:cNvPr id="9" name="TextBox 8"/>
          <p:cNvSpPr txBox="1"/>
          <p:nvPr/>
        </p:nvSpPr>
        <p:spPr>
          <a:xfrm>
            <a:off x="795528" y="1709928"/>
            <a:ext cx="3108960" cy="1143000"/>
          </a:xfrm>
          <a:prstGeom prst="rect">
            <a:avLst/>
          </a:prstGeom>
          <a:noFill/>
        </p:spPr>
        <p:txBody>
          <a:bodyPr wrap="square">
            <a:spAutoFit/>
          </a:bodyPr>
          <a:lstStyle/>
          <a:p>
            <a:pPr>
              <a:defRPr sz="1250">
                <a:solidFill>
                  <a:srgbClr val="232D3A"/>
                </a:solidFill>
              </a:defRPr>
            </a:pPr>
            <a:r>
              <a:t>Four-week summer training at RSWM Limited, focused on practical cybersecurity implementation and IT infrastructure.</a:t>
            </a:r>
          </a:p>
        </p:txBody>
      </p:sp>
      <p:sp>
        <p:nvSpPr>
          <p:cNvPr id="10" name="Rounded Rectangle 9"/>
          <p:cNvSpPr/>
          <p:nvPr/>
        </p:nvSpPr>
        <p:spPr>
          <a:xfrm>
            <a:off x="4343400" y="1143000"/>
            <a:ext cx="3474720" cy="18288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143000"/>
            <a:ext cx="73152" cy="182880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289304"/>
            <a:ext cx="3108960" cy="320040"/>
          </a:xfrm>
          <a:prstGeom prst="rect">
            <a:avLst/>
          </a:prstGeom>
          <a:noFill/>
        </p:spPr>
        <p:txBody>
          <a:bodyPr wrap="none">
            <a:spAutoFit/>
          </a:bodyPr>
          <a:lstStyle/>
          <a:p>
            <a:pPr>
              <a:defRPr b="1" sz="1700">
                <a:solidFill>
                  <a:srgbClr val="142B4B"/>
                </a:solidFill>
              </a:defRPr>
            </a:pPr>
            <a:r>
              <a:t>Primary Learning Areas</a:t>
            </a:r>
          </a:p>
        </p:txBody>
      </p:sp>
      <p:sp>
        <p:nvSpPr>
          <p:cNvPr id="13" name="TextBox 12"/>
          <p:cNvSpPr txBox="1"/>
          <p:nvPr/>
        </p:nvSpPr>
        <p:spPr>
          <a:xfrm>
            <a:off x="4544568" y="1709928"/>
            <a:ext cx="3108960" cy="1143000"/>
          </a:xfrm>
          <a:prstGeom prst="rect">
            <a:avLst/>
          </a:prstGeom>
          <a:noFill/>
        </p:spPr>
        <p:txBody>
          <a:bodyPr wrap="square">
            <a:spAutoFit/>
          </a:bodyPr>
          <a:lstStyle/>
          <a:p>
            <a:pPr>
              <a:defRPr sz="1250">
                <a:solidFill>
                  <a:srgbClr val="232D3A"/>
                </a:solidFill>
              </a:defRPr>
            </a:pPr>
            <a:r>
              <a:t>Networking architecture, security controls, servers, switches, firewalls, and data centre monitoring.</a:t>
            </a:r>
          </a:p>
        </p:txBody>
      </p:sp>
      <p:sp>
        <p:nvSpPr>
          <p:cNvPr id="14" name="Rounded Rectangle 13"/>
          <p:cNvSpPr/>
          <p:nvPr/>
        </p:nvSpPr>
        <p:spPr>
          <a:xfrm>
            <a:off x="8092440" y="1143000"/>
            <a:ext cx="3474720" cy="18288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143000"/>
            <a:ext cx="73152" cy="1828800"/>
          </a:xfrm>
          <a:prstGeom prst="rect">
            <a:avLst/>
          </a:prstGeom>
          <a:solidFill>
            <a:srgbClr val="37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1289304"/>
            <a:ext cx="3108960" cy="320040"/>
          </a:xfrm>
          <a:prstGeom prst="rect">
            <a:avLst/>
          </a:prstGeom>
          <a:noFill/>
        </p:spPr>
        <p:txBody>
          <a:bodyPr wrap="none">
            <a:spAutoFit/>
          </a:bodyPr>
          <a:lstStyle/>
          <a:p>
            <a:pPr>
              <a:defRPr b="1" sz="1700">
                <a:solidFill>
                  <a:srgbClr val="142B4B"/>
                </a:solidFill>
              </a:defRPr>
            </a:pPr>
            <a:r>
              <a:t>Learning Objective</a:t>
            </a:r>
          </a:p>
        </p:txBody>
      </p:sp>
      <p:sp>
        <p:nvSpPr>
          <p:cNvPr id="17" name="TextBox 16"/>
          <p:cNvSpPr txBox="1"/>
          <p:nvPr/>
        </p:nvSpPr>
        <p:spPr>
          <a:xfrm>
            <a:off x="8293608" y="1709928"/>
            <a:ext cx="3108960" cy="1143000"/>
          </a:xfrm>
          <a:prstGeom prst="rect">
            <a:avLst/>
          </a:prstGeom>
          <a:noFill/>
        </p:spPr>
        <p:txBody>
          <a:bodyPr wrap="square">
            <a:spAutoFit/>
          </a:bodyPr>
          <a:lstStyle/>
          <a:p>
            <a:pPr>
              <a:defRPr sz="1250">
                <a:solidFill>
                  <a:srgbClr val="232D3A"/>
                </a:solidFill>
              </a:defRPr>
            </a:pPr>
            <a:r>
              <a:t>Bridge academic CSE concepts with real-world enterprise infrastructure and security practices.</a:t>
            </a:r>
          </a:p>
        </p:txBody>
      </p:sp>
      <p:sp>
        <p:nvSpPr>
          <p:cNvPr id="18" name="TextBox 17"/>
          <p:cNvSpPr txBox="1"/>
          <p:nvPr/>
        </p:nvSpPr>
        <p:spPr>
          <a:xfrm>
            <a:off x="731520" y="3474720"/>
            <a:ext cx="10698480" cy="2194560"/>
          </a:xfrm>
          <a:prstGeom prst="rect">
            <a:avLst/>
          </a:prstGeom>
          <a:noFill/>
        </p:spPr>
        <p:txBody>
          <a:bodyPr wrap="square">
            <a:spAutoFit/>
          </a:bodyPr>
          <a:lstStyle/>
          <a:p>
            <a:pPr>
              <a:spcAft>
                <a:spcPts val="1000"/>
              </a:spcAft>
              <a:defRPr sz="1700">
                <a:solidFill>
                  <a:srgbClr val="232D3A"/>
                </a:solidFill>
              </a:defRPr>
            </a:pPr>
            <a:r>
              <a:t>• Observed how a large industrial organization protects digital systems and communication channels.</a:t>
            </a:r>
          </a:p>
          <a:p>
            <a:pPr>
              <a:spcAft>
                <a:spcPts val="1000"/>
              </a:spcAft>
              <a:defRPr sz="1700">
                <a:solidFill>
                  <a:srgbClr val="232D3A"/>
                </a:solidFill>
              </a:defRPr>
            </a:pPr>
            <a:r>
              <a:t>• Understood the relationship between network availability, security, monitoring, and business continuity.</a:t>
            </a:r>
          </a:p>
          <a:p>
            <a:pPr>
              <a:spcAft>
                <a:spcPts val="1000"/>
              </a:spcAft>
              <a:defRPr sz="1700">
                <a:solidFill>
                  <a:srgbClr val="232D3A"/>
                </a:solidFill>
              </a:defRPr>
            </a:pPr>
            <a:r>
              <a:t>• Gained practical familiarity with infrastructure components used across Head Office and connected sites.</a:t>
            </a:r>
          </a:p>
        </p:txBody>
      </p:sp>
      <p:sp>
        <p:nvSpPr>
          <p:cNvPr id="19" name="Rectangle 18"/>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21" name="TextBox 20"/>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2. RSWM Cybersecurity Environment</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Enterprise infrastructure &amp; protection</a:t>
            </a:r>
          </a:p>
        </p:txBody>
      </p:sp>
      <p:sp>
        <p:nvSpPr>
          <p:cNvPr id="6" name="TextBox 5"/>
          <p:cNvSpPr txBox="1"/>
          <p:nvPr/>
        </p:nvSpPr>
        <p:spPr>
          <a:xfrm>
            <a:off x="640080" y="1143000"/>
            <a:ext cx="5486400" cy="2834640"/>
          </a:xfrm>
          <a:prstGeom prst="rect">
            <a:avLst/>
          </a:prstGeom>
          <a:noFill/>
        </p:spPr>
        <p:txBody>
          <a:bodyPr wrap="square">
            <a:spAutoFit/>
          </a:bodyPr>
          <a:lstStyle/>
          <a:p>
            <a:pPr>
              <a:spcAft>
                <a:spcPts val="1000"/>
              </a:spcAft>
              <a:defRPr sz="1700">
                <a:solidFill>
                  <a:srgbClr val="232D3A"/>
                </a:solidFill>
              </a:defRPr>
            </a:pPr>
            <a:r>
              <a:t>• RSWM operates multiple manufacturing units and a large IT network spanning plants and offices.</a:t>
            </a:r>
          </a:p>
          <a:p>
            <a:pPr>
              <a:spcAft>
                <a:spcPts val="1000"/>
              </a:spcAft>
              <a:defRPr sz="1700">
                <a:solidFill>
                  <a:srgbClr val="232D3A"/>
                </a:solidFill>
              </a:defRPr>
            </a:pPr>
            <a:r>
              <a:t>• Cybersecurity responsibilities include network security, firewalls, intrusion detection, user access control, audits, and awareness.</a:t>
            </a:r>
          </a:p>
          <a:p>
            <a:pPr>
              <a:spcAft>
                <a:spcPts val="1000"/>
              </a:spcAft>
              <a:defRPr sz="1700">
                <a:solidFill>
                  <a:srgbClr val="232D3A"/>
                </a:solidFill>
              </a:defRPr>
            </a:pPr>
            <a:r>
              <a:t>• Protecting data, systems, and communication channels is critical to continuous business operations.</a:t>
            </a:r>
          </a:p>
        </p:txBody>
      </p:sp>
      <p:sp>
        <p:nvSpPr>
          <p:cNvPr id="7" name="Rounded Rectangle 6"/>
          <p:cNvSpPr/>
          <p:nvPr/>
        </p:nvSpPr>
        <p:spPr>
          <a:xfrm>
            <a:off x="6400800" y="1097280"/>
            <a:ext cx="2377440" cy="12344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0" y="1097280"/>
            <a:ext cx="73152" cy="123444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1968" y="1243584"/>
            <a:ext cx="2011680" cy="320040"/>
          </a:xfrm>
          <a:prstGeom prst="rect">
            <a:avLst/>
          </a:prstGeom>
          <a:noFill/>
        </p:spPr>
        <p:txBody>
          <a:bodyPr wrap="none">
            <a:spAutoFit/>
          </a:bodyPr>
          <a:lstStyle/>
          <a:p>
            <a:pPr>
              <a:defRPr b="1" sz="1700">
                <a:solidFill>
                  <a:srgbClr val="142B4B"/>
                </a:solidFill>
              </a:defRPr>
            </a:pPr>
            <a:r>
              <a:t>Network Security</a:t>
            </a:r>
          </a:p>
        </p:txBody>
      </p:sp>
      <p:sp>
        <p:nvSpPr>
          <p:cNvPr id="10" name="TextBox 9"/>
          <p:cNvSpPr txBox="1"/>
          <p:nvPr/>
        </p:nvSpPr>
        <p:spPr>
          <a:xfrm>
            <a:off x="6601968" y="1664207"/>
            <a:ext cx="2011680" cy="548640"/>
          </a:xfrm>
          <a:prstGeom prst="rect">
            <a:avLst/>
          </a:prstGeom>
          <a:noFill/>
        </p:spPr>
        <p:txBody>
          <a:bodyPr wrap="square">
            <a:spAutoFit/>
          </a:bodyPr>
          <a:lstStyle/>
          <a:p>
            <a:pPr>
              <a:defRPr sz="1250">
                <a:solidFill>
                  <a:srgbClr val="232D3A"/>
                </a:solidFill>
              </a:defRPr>
            </a:pPr>
            <a:r>
              <a:t>Firewalls + IPS/IDS</a:t>
            </a:r>
          </a:p>
        </p:txBody>
      </p:sp>
      <p:sp>
        <p:nvSpPr>
          <p:cNvPr id="11" name="Rounded Rectangle 10"/>
          <p:cNvSpPr/>
          <p:nvPr/>
        </p:nvSpPr>
        <p:spPr>
          <a:xfrm>
            <a:off x="9006840" y="1097280"/>
            <a:ext cx="2377440" cy="12344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6840" y="1097280"/>
            <a:ext cx="73152" cy="1234440"/>
          </a:xfrm>
          <a:prstGeom prst="rect">
            <a:avLst/>
          </a:prstGeom>
          <a:solidFill>
            <a:srgbClr val="28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08008" y="1243584"/>
            <a:ext cx="2011680" cy="320040"/>
          </a:xfrm>
          <a:prstGeom prst="rect">
            <a:avLst/>
          </a:prstGeom>
          <a:noFill/>
        </p:spPr>
        <p:txBody>
          <a:bodyPr wrap="none">
            <a:spAutoFit/>
          </a:bodyPr>
          <a:lstStyle/>
          <a:p>
            <a:pPr>
              <a:defRPr b="1" sz="1700">
                <a:solidFill>
                  <a:srgbClr val="142B4B"/>
                </a:solidFill>
              </a:defRPr>
            </a:pPr>
            <a:r>
              <a:t>Access Control</a:t>
            </a:r>
          </a:p>
        </p:txBody>
      </p:sp>
      <p:sp>
        <p:nvSpPr>
          <p:cNvPr id="14" name="TextBox 13"/>
          <p:cNvSpPr txBox="1"/>
          <p:nvPr/>
        </p:nvSpPr>
        <p:spPr>
          <a:xfrm>
            <a:off x="9208008" y="1664207"/>
            <a:ext cx="2011680" cy="548640"/>
          </a:xfrm>
          <a:prstGeom prst="rect">
            <a:avLst/>
          </a:prstGeom>
          <a:noFill/>
        </p:spPr>
        <p:txBody>
          <a:bodyPr wrap="square">
            <a:spAutoFit/>
          </a:bodyPr>
          <a:lstStyle/>
          <a:p>
            <a:pPr>
              <a:defRPr sz="1250">
                <a:solidFill>
                  <a:srgbClr val="232D3A"/>
                </a:solidFill>
              </a:defRPr>
            </a:pPr>
            <a:r>
              <a:t>Authentication + roles</a:t>
            </a:r>
          </a:p>
        </p:txBody>
      </p:sp>
      <p:sp>
        <p:nvSpPr>
          <p:cNvPr id="15" name="Rounded Rectangle 14"/>
          <p:cNvSpPr/>
          <p:nvPr/>
        </p:nvSpPr>
        <p:spPr>
          <a:xfrm>
            <a:off x="6400800" y="2606040"/>
            <a:ext cx="2377440" cy="12344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2606040"/>
            <a:ext cx="73152" cy="1234440"/>
          </a:xfrm>
          <a:prstGeom prst="rect">
            <a:avLst/>
          </a:prstGeom>
          <a:solidFill>
            <a:srgbClr val="37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1968" y="2752344"/>
            <a:ext cx="2011680" cy="320040"/>
          </a:xfrm>
          <a:prstGeom prst="rect">
            <a:avLst/>
          </a:prstGeom>
          <a:noFill/>
        </p:spPr>
        <p:txBody>
          <a:bodyPr wrap="none">
            <a:spAutoFit/>
          </a:bodyPr>
          <a:lstStyle/>
          <a:p>
            <a:pPr>
              <a:defRPr b="1" sz="1700">
                <a:solidFill>
                  <a:srgbClr val="142B4B"/>
                </a:solidFill>
              </a:defRPr>
            </a:pPr>
            <a:r>
              <a:t>Monitoring</a:t>
            </a:r>
          </a:p>
        </p:txBody>
      </p:sp>
      <p:sp>
        <p:nvSpPr>
          <p:cNvPr id="18" name="TextBox 17"/>
          <p:cNvSpPr txBox="1"/>
          <p:nvPr/>
        </p:nvSpPr>
        <p:spPr>
          <a:xfrm>
            <a:off x="6601968" y="3172968"/>
            <a:ext cx="2011680" cy="548640"/>
          </a:xfrm>
          <a:prstGeom prst="rect">
            <a:avLst/>
          </a:prstGeom>
          <a:noFill/>
        </p:spPr>
        <p:txBody>
          <a:bodyPr wrap="square">
            <a:spAutoFit/>
          </a:bodyPr>
          <a:lstStyle/>
          <a:p>
            <a:pPr>
              <a:defRPr sz="1250">
                <a:solidFill>
                  <a:srgbClr val="232D3A"/>
                </a:solidFill>
              </a:defRPr>
            </a:pPr>
            <a:r>
              <a:t>Infrastructure health</a:t>
            </a:r>
          </a:p>
        </p:txBody>
      </p:sp>
      <p:sp>
        <p:nvSpPr>
          <p:cNvPr id="19" name="Rounded Rectangle 18"/>
          <p:cNvSpPr/>
          <p:nvPr/>
        </p:nvSpPr>
        <p:spPr>
          <a:xfrm>
            <a:off x="9006840" y="2606040"/>
            <a:ext cx="2377440" cy="12344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2606040"/>
            <a:ext cx="73152" cy="123444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8" y="2752344"/>
            <a:ext cx="2011680" cy="320040"/>
          </a:xfrm>
          <a:prstGeom prst="rect">
            <a:avLst/>
          </a:prstGeom>
          <a:noFill/>
        </p:spPr>
        <p:txBody>
          <a:bodyPr wrap="none">
            <a:spAutoFit/>
          </a:bodyPr>
          <a:lstStyle/>
          <a:p>
            <a:pPr>
              <a:defRPr b="1" sz="1700">
                <a:solidFill>
                  <a:srgbClr val="142B4B"/>
                </a:solidFill>
              </a:defRPr>
            </a:pPr>
            <a:r>
              <a:t>Resilience</a:t>
            </a:r>
          </a:p>
        </p:txBody>
      </p:sp>
      <p:sp>
        <p:nvSpPr>
          <p:cNvPr id="22" name="TextBox 21"/>
          <p:cNvSpPr txBox="1"/>
          <p:nvPr/>
        </p:nvSpPr>
        <p:spPr>
          <a:xfrm>
            <a:off x="9208008" y="3172968"/>
            <a:ext cx="2011680" cy="548640"/>
          </a:xfrm>
          <a:prstGeom prst="rect">
            <a:avLst/>
          </a:prstGeom>
          <a:noFill/>
        </p:spPr>
        <p:txBody>
          <a:bodyPr wrap="square">
            <a:spAutoFit/>
          </a:bodyPr>
          <a:lstStyle/>
          <a:p>
            <a:pPr>
              <a:defRPr sz="1250">
                <a:solidFill>
                  <a:srgbClr val="232D3A"/>
                </a:solidFill>
              </a:defRPr>
            </a:pPr>
            <a:r>
              <a:t>MPLS + SD-WAN</a:t>
            </a:r>
          </a:p>
        </p:txBody>
      </p:sp>
      <p:sp>
        <p:nvSpPr>
          <p:cNvPr id="23" name="Rounded Rectangle 22"/>
          <p:cNvSpPr/>
          <p:nvPr/>
        </p:nvSpPr>
        <p:spPr>
          <a:xfrm>
            <a:off x="6400800" y="4114800"/>
            <a:ext cx="4983480" cy="12344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4114800"/>
            <a:ext cx="73152" cy="123444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4261104"/>
            <a:ext cx="4617720" cy="320040"/>
          </a:xfrm>
          <a:prstGeom prst="rect">
            <a:avLst/>
          </a:prstGeom>
          <a:noFill/>
        </p:spPr>
        <p:txBody>
          <a:bodyPr wrap="none">
            <a:spAutoFit/>
          </a:bodyPr>
          <a:lstStyle/>
          <a:p>
            <a:pPr>
              <a:defRPr b="1" sz="1700">
                <a:solidFill>
                  <a:srgbClr val="142B4B"/>
                </a:solidFill>
              </a:defRPr>
            </a:pPr>
            <a:r>
              <a:t>Key Insight</a:t>
            </a:r>
          </a:p>
        </p:txBody>
      </p:sp>
      <p:sp>
        <p:nvSpPr>
          <p:cNvPr id="26" name="TextBox 25"/>
          <p:cNvSpPr txBox="1"/>
          <p:nvPr/>
        </p:nvSpPr>
        <p:spPr>
          <a:xfrm>
            <a:off x="6601968" y="4681728"/>
            <a:ext cx="4617720" cy="548640"/>
          </a:xfrm>
          <a:prstGeom prst="rect">
            <a:avLst/>
          </a:prstGeom>
          <a:noFill/>
        </p:spPr>
        <p:txBody>
          <a:bodyPr wrap="square">
            <a:spAutoFit/>
          </a:bodyPr>
          <a:lstStyle/>
          <a:p>
            <a:pPr>
              <a:defRPr sz="1250">
                <a:solidFill>
                  <a:srgbClr val="232D3A"/>
                </a:solidFill>
              </a:defRPr>
            </a:pPr>
            <a:r>
              <a:t>Security is not a single device; it is a layered combination of people, processes, network controls, and monitoring.</a:t>
            </a:r>
          </a:p>
        </p:txBody>
      </p:sp>
      <p:sp>
        <p:nvSpPr>
          <p:cNvPr id="27" name="Rectangle 26"/>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29" name="TextBox 28"/>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3. Enterprise Networking Architecture</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MPLS • SD-WAN • Firewall • IPS/IDS</a:t>
            </a:r>
          </a:p>
        </p:txBody>
      </p:sp>
      <p:sp>
        <p:nvSpPr>
          <p:cNvPr id="6" name="Rounded Rectangle 5"/>
          <p:cNvSpPr/>
          <p:nvPr/>
        </p:nvSpPr>
        <p:spPr>
          <a:xfrm>
            <a:off x="548640" y="1051560"/>
            <a:ext cx="1143000" cy="566928"/>
          </a:xfrm>
          <a:prstGeom prst="roundRect">
            <a:avLst/>
          </a:prstGeom>
          <a:solidFill>
            <a:srgbClr val="FFFFFF"/>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B"/>
                </a:solidFill>
              </a:defRPr>
            </a:pPr>
            <a:r>
              <a:t>Nim-Rani</a:t>
            </a:r>
            <a:br/>
            <a:r>
              <a:t>Indore</a:t>
            </a:r>
          </a:p>
        </p:txBody>
      </p:sp>
      <p:sp>
        <p:nvSpPr>
          <p:cNvPr id="7" name="Rounded Rectangle 6"/>
          <p:cNvSpPr/>
          <p:nvPr/>
        </p:nvSpPr>
        <p:spPr>
          <a:xfrm>
            <a:off x="1920240" y="1051560"/>
            <a:ext cx="1143000" cy="566928"/>
          </a:xfrm>
          <a:prstGeom prst="roundRect">
            <a:avLst/>
          </a:prstGeom>
          <a:solidFill>
            <a:srgbClr val="FFFFFF"/>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B"/>
                </a:solidFill>
              </a:defRPr>
            </a:pPr>
            <a:r>
              <a:t>Ringas</a:t>
            </a:r>
          </a:p>
        </p:txBody>
      </p:sp>
      <p:sp>
        <p:nvSpPr>
          <p:cNvPr id="8" name="Rounded Rectangle 7"/>
          <p:cNvSpPr/>
          <p:nvPr/>
        </p:nvSpPr>
        <p:spPr>
          <a:xfrm>
            <a:off x="3291840" y="1051560"/>
            <a:ext cx="1143000" cy="566928"/>
          </a:xfrm>
          <a:prstGeom prst="roundRect">
            <a:avLst/>
          </a:prstGeom>
          <a:solidFill>
            <a:srgbClr val="FFFFFF"/>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B"/>
                </a:solidFill>
              </a:defRPr>
            </a:pPr>
            <a:r>
              <a:t>Khari-Gram</a:t>
            </a:r>
          </a:p>
        </p:txBody>
      </p:sp>
      <p:sp>
        <p:nvSpPr>
          <p:cNvPr id="9" name="Rounded Rectangle 8"/>
          <p:cNvSpPr/>
          <p:nvPr/>
        </p:nvSpPr>
        <p:spPr>
          <a:xfrm>
            <a:off x="4663440" y="1051560"/>
            <a:ext cx="1143000" cy="566928"/>
          </a:xfrm>
          <a:prstGeom prst="roundRect">
            <a:avLst/>
          </a:prstGeom>
          <a:solidFill>
            <a:srgbClr val="FFFFFF"/>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B"/>
                </a:solidFill>
              </a:defRPr>
            </a:pPr>
            <a:r>
              <a:t>Kanya Kheri</a:t>
            </a:r>
          </a:p>
        </p:txBody>
      </p:sp>
      <p:sp>
        <p:nvSpPr>
          <p:cNvPr id="10" name="Rounded Rectangle 9"/>
          <p:cNvSpPr/>
          <p:nvPr/>
        </p:nvSpPr>
        <p:spPr>
          <a:xfrm>
            <a:off x="6035040" y="1051560"/>
            <a:ext cx="1143000" cy="566928"/>
          </a:xfrm>
          <a:prstGeom prst="roundRect">
            <a:avLst/>
          </a:prstGeom>
          <a:solidFill>
            <a:srgbClr val="FFFFFF"/>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B"/>
                </a:solidFill>
              </a:defRPr>
            </a:pPr>
            <a:r>
              <a:t>Mumbai</a:t>
            </a:r>
          </a:p>
        </p:txBody>
      </p:sp>
      <p:sp>
        <p:nvSpPr>
          <p:cNvPr id="11" name="Rounded Rectangle 10"/>
          <p:cNvSpPr/>
          <p:nvPr/>
        </p:nvSpPr>
        <p:spPr>
          <a:xfrm>
            <a:off x="7406640" y="1051560"/>
            <a:ext cx="1143000" cy="566928"/>
          </a:xfrm>
          <a:prstGeom prst="roundRect">
            <a:avLst/>
          </a:prstGeom>
          <a:solidFill>
            <a:srgbClr val="FFFFFF"/>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B"/>
                </a:solidFill>
              </a:defRPr>
            </a:pPr>
            <a:r>
              <a:t>Baswara</a:t>
            </a:r>
          </a:p>
        </p:txBody>
      </p:sp>
      <p:sp>
        <p:nvSpPr>
          <p:cNvPr id="12" name="Rounded Rectangle 11"/>
          <p:cNvSpPr/>
          <p:nvPr/>
        </p:nvSpPr>
        <p:spPr>
          <a:xfrm>
            <a:off x="8778240" y="1051560"/>
            <a:ext cx="1143000" cy="566928"/>
          </a:xfrm>
          <a:prstGeom prst="roundRect">
            <a:avLst/>
          </a:prstGeom>
          <a:solidFill>
            <a:srgbClr val="FFFFFF"/>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B"/>
                </a:solidFill>
              </a:defRPr>
            </a:pPr>
            <a:r>
              <a:t>Sarovar</a:t>
            </a:r>
          </a:p>
        </p:txBody>
      </p:sp>
      <p:sp>
        <p:nvSpPr>
          <p:cNvPr id="13" name="Rounded Rectangle 12"/>
          <p:cNvSpPr/>
          <p:nvPr/>
        </p:nvSpPr>
        <p:spPr>
          <a:xfrm>
            <a:off x="4663440" y="2011680"/>
            <a:ext cx="1828800" cy="658368"/>
          </a:xfrm>
          <a:prstGeom prst="roundRect">
            <a:avLst/>
          </a:prstGeom>
          <a:solidFill>
            <a:srgbClr val="F1F6FA"/>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B4B"/>
                </a:solidFill>
              </a:defRPr>
            </a:pPr>
            <a:r>
              <a:t>MPLS</a:t>
            </a:r>
            <a:br/>
            <a:r>
              <a:t>Primary WAN</a:t>
            </a:r>
          </a:p>
        </p:txBody>
      </p:sp>
      <p:cxnSp>
        <p:nvCxnSpPr>
          <p:cNvPr id="14" name="Connector 13"/>
          <p:cNvCxnSpPr/>
          <p:nvPr/>
        </p:nvCxnSpPr>
        <p:spPr>
          <a:xfrm>
            <a:off x="1115568" y="1618488"/>
            <a:ext cx="4462272" cy="393192"/>
          </a:xfrm>
          <a:prstGeom prst="line">
            <a:avLst/>
          </a:prstGeom>
          <a:ln w="1905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487168" y="1618488"/>
            <a:ext cx="3090672" cy="393192"/>
          </a:xfrm>
          <a:prstGeom prst="line">
            <a:avLst/>
          </a:prstGeom>
          <a:ln w="1905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858768" y="1618488"/>
            <a:ext cx="1719072" cy="393192"/>
          </a:xfrm>
          <a:prstGeom prst="line">
            <a:avLst/>
          </a:prstGeom>
          <a:ln w="1905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230368" y="1618488"/>
            <a:ext cx="347472" cy="393192"/>
          </a:xfrm>
          <a:prstGeom prst="line">
            <a:avLst/>
          </a:prstGeom>
          <a:ln w="1905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577840" y="1618488"/>
            <a:ext cx="1024128" cy="393192"/>
          </a:xfrm>
          <a:prstGeom prst="line">
            <a:avLst/>
          </a:prstGeom>
          <a:ln w="1905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577840" y="1618488"/>
            <a:ext cx="2395727" cy="393192"/>
          </a:xfrm>
          <a:prstGeom prst="line">
            <a:avLst/>
          </a:prstGeom>
          <a:ln w="1905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577840" y="1618488"/>
            <a:ext cx="3767327" cy="393192"/>
          </a:xfrm>
          <a:prstGeom prst="line">
            <a:avLst/>
          </a:prstGeom>
          <a:ln w="19050">
            <a:solidFill>
              <a:srgbClr val="2864A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834640" y="3154680"/>
            <a:ext cx="1828800" cy="658368"/>
          </a:xfrm>
          <a:prstGeom prst="roundRect">
            <a:avLst/>
          </a:prstGeom>
          <a:solidFill>
            <a:srgbClr val="F1F6FA"/>
          </a:solidFill>
          <a:ln w="19050">
            <a:solidFill>
              <a:srgbClr val="DC8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SD-WAN</a:t>
            </a:r>
            <a:br/>
            <a:r>
              <a:t>Backup</a:t>
            </a:r>
          </a:p>
        </p:txBody>
      </p:sp>
      <p:sp>
        <p:nvSpPr>
          <p:cNvPr id="22" name="Rounded Rectangle 21"/>
          <p:cNvSpPr/>
          <p:nvPr/>
        </p:nvSpPr>
        <p:spPr>
          <a:xfrm>
            <a:off x="5166360" y="3154680"/>
            <a:ext cx="1828800" cy="658368"/>
          </a:xfrm>
          <a:prstGeom prst="roundRect">
            <a:avLst/>
          </a:prstGeom>
          <a:solidFill>
            <a:srgbClr val="F1F6FA"/>
          </a:solidFill>
          <a:ln w="19050">
            <a:solidFill>
              <a:srgbClr val="B9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Head Office</a:t>
            </a:r>
            <a:br/>
            <a:r>
              <a:t>Firewall</a:t>
            </a:r>
          </a:p>
        </p:txBody>
      </p:sp>
      <p:sp>
        <p:nvSpPr>
          <p:cNvPr id="23" name="Rounded Rectangle 22"/>
          <p:cNvSpPr/>
          <p:nvPr/>
        </p:nvSpPr>
        <p:spPr>
          <a:xfrm>
            <a:off x="7498079" y="3154680"/>
            <a:ext cx="1645920" cy="658368"/>
          </a:xfrm>
          <a:prstGeom prst="roundRect">
            <a:avLst/>
          </a:prstGeom>
          <a:solidFill>
            <a:srgbClr val="F1F6FA"/>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Router</a:t>
            </a:r>
          </a:p>
        </p:txBody>
      </p:sp>
      <p:cxnSp>
        <p:nvCxnSpPr>
          <p:cNvPr id="24" name="Connector 23"/>
          <p:cNvCxnSpPr/>
          <p:nvPr/>
        </p:nvCxnSpPr>
        <p:spPr>
          <a:xfrm flipH="1">
            <a:off x="3749039" y="2670048"/>
            <a:ext cx="1828801" cy="484632"/>
          </a:xfrm>
          <a:prstGeom prst="line">
            <a:avLst/>
          </a:prstGeom>
          <a:ln w="25400">
            <a:solidFill>
              <a:srgbClr val="DC873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77840" y="2670048"/>
            <a:ext cx="502920" cy="484632"/>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995160" y="3483864"/>
            <a:ext cx="502919" cy="0"/>
          </a:xfrm>
          <a:prstGeom prst="line">
            <a:avLst/>
          </a:prstGeom>
          <a:ln w="25400">
            <a:solidFill>
              <a:srgbClr val="B9464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464040" y="3154680"/>
            <a:ext cx="1645920" cy="658368"/>
          </a:xfrm>
          <a:prstGeom prst="roundRect">
            <a:avLst/>
          </a:prstGeom>
          <a:solidFill>
            <a:srgbClr val="F1F6FA"/>
          </a:solidFill>
          <a:ln w="19050">
            <a:solidFill>
              <a:srgbClr val="37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Core Switch</a:t>
            </a:r>
          </a:p>
        </p:txBody>
      </p:sp>
      <p:cxnSp>
        <p:nvCxnSpPr>
          <p:cNvPr id="28" name="Connector 27"/>
          <p:cNvCxnSpPr/>
          <p:nvPr/>
        </p:nvCxnSpPr>
        <p:spPr>
          <a:xfrm>
            <a:off x="9144000" y="3483864"/>
            <a:ext cx="320040" cy="0"/>
          </a:xfrm>
          <a:prstGeom prst="line">
            <a:avLst/>
          </a:prstGeom>
          <a:ln w="25400">
            <a:solidFill>
              <a:srgbClr val="37875F"/>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400800" y="4617720"/>
            <a:ext cx="1828800" cy="658368"/>
          </a:xfrm>
          <a:prstGeom prst="roundRect">
            <a:avLst/>
          </a:prstGeom>
          <a:solidFill>
            <a:srgbClr val="F1F6FA"/>
          </a:solidFill>
          <a:ln w="19050">
            <a:solidFill>
              <a:srgbClr val="B9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IPS / IDS</a:t>
            </a:r>
          </a:p>
        </p:txBody>
      </p:sp>
      <p:sp>
        <p:nvSpPr>
          <p:cNvPr id="30" name="Rounded Rectangle 29"/>
          <p:cNvSpPr/>
          <p:nvPr/>
        </p:nvSpPr>
        <p:spPr>
          <a:xfrm>
            <a:off x="8823960" y="4617720"/>
            <a:ext cx="2194560" cy="658368"/>
          </a:xfrm>
          <a:prstGeom prst="roundRect">
            <a:avLst/>
          </a:prstGeom>
          <a:solidFill>
            <a:srgbClr val="F1F6FA"/>
          </a:solidFill>
          <a:ln w="19050">
            <a:solidFill>
              <a:srgbClr val="37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Servers + End Users</a:t>
            </a:r>
          </a:p>
        </p:txBody>
      </p:sp>
      <p:cxnSp>
        <p:nvCxnSpPr>
          <p:cNvPr id="31" name="Connector 30"/>
          <p:cNvCxnSpPr/>
          <p:nvPr/>
        </p:nvCxnSpPr>
        <p:spPr>
          <a:xfrm flipH="1">
            <a:off x="7315200" y="3813048"/>
            <a:ext cx="2971800" cy="804672"/>
          </a:xfrm>
          <a:prstGeom prst="line">
            <a:avLst/>
          </a:prstGeom>
          <a:ln w="25400">
            <a:solidFill>
              <a:srgbClr val="37875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921240" y="3813048"/>
            <a:ext cx="365760" cy="804672"/>
          </a:xfrm>
          <a:prstGeom prst="line">
            <a:avLst/>
          </a:prstGeom>
          <a:ln w="25400">
            <a:solidFill>
              <a:srgbClr val="37875F"/>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35" name="TextBox 34"/>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4. Servers &amp; Network Infrastructure</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Layered campus design</a:t>
            </a:r>
          </a:p>
        </p:txBody>
      </p:sp>
      <p:sp>
        <p:nvSpPr>
          <p:cNvPr id="6" name="Rounded Rectangle 5"/>
          <p:cNvSpPr/>
          <p:nvPr/>
        </p:nvSpPr>
        <p:spPr>
          <a:xfrm>
            <a:off x="640080" y="1234440"/>
            <a:ext cx="1920240" cy="685800"/>
          </a:xfrm>
          <a:prstGeom prst="roundRect">
            <a:avLst/>
          </a:prstGeom>
          <a:solidFill>
            <a:srgbClr val="F1F6FA"/>
          </a:solidFill>
          <a:ln w="19050">
            <a:solidFill>
              <a:srgbClr val="2D9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B4B"/>
                </a:solidFill>
              </a:defRPr>
            </a:pPr>
            <a:r>
              <a:t>Aruba APs</a:t>
            </a:r>
            <a:br/>
            <a:r>
              <a:t>Access Layer</a:t>
            </a:r>
          </a:p>
        </p:txBody>
      </p:sp>
      <p:sp>
        <p:nvSpPr>
          <p:cNvPr id="7" name="Rounded Rectangle 6"/>
          <p:cNvSpPr/>
          <p:nvPr/>
        </p:nvSpPr>
        <p:spPr>
          <a:xfrm>
            <a:off x="2971800" y="1234440"/>
            <a:ext cx="1920240" cy="685800"/>
          </a:xfrm>
          <a:prstGeom prst="roundRect">
            <a:avLst/>
          </a:prstGeom>
          <a:solidFill>
            <a:srgbClr val="F1F6FA"/>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B4B"/>
                </a:solidFill>
              </a:defRPr>
            </a:pPr>
            <a:r>
              <a:t>Core Switch</a:t>
            </a:r>
            <a:br/>
            <a:r>
              <a:t>3850</a:t>
            </a:r>
          </a:p>
        </p:txBody>
      </p:sp>
      <p:sp>
        <p:nvSpPr>
          <p:cNvPr id="8" name="Rounded Rectangle 7"/>
          <p:cNvSpPr/>
          <p:nvPr/>
        </p:nvSpPr>
        <p:spPr>
          <a:xfrm>
            <a:off x="5303520" y="1234440"/>
            <a:ext cx="1920240" cy="685800"/>
          </a:xfrm>
          <a:prstGeom prst="roundRect">
            <a:avLst/>
          </a:prstGeom>
          <a:solidFill>
            <a:srgbClr val="F1F6FA"/>
          </a:solidFill>
          <a:ln w="19050">
            <a:solidFill>
              <a:srgbClr val="B9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B4B"/>
                </a:solidFill>
              </a:defRPr>
            </a:pPr>
            <a:r>
              <a:t>DMZ Switch</a:t>
            </a:r>
            <a:br/>
            <a:r>
              <a:t>3850</a:t>
            </a:r>
          </a:p>
        </p:txBody>
      </p:sp>
      <p:sp>
        <p:nvSpPr>
          <p:cNvPr id="9" name="Rounded Rectangle 8"/>
          <p:cNvSpPr/>
          <p:nvPr/>
        </p:nvSpPr>
        <p:spPr>
          <a:xfrm>
            <a:off x="7635240" y="1234440"/>
            <a:ext cx="1920240" cy="685800"/>
          </a:xfrm>
          <a:prstGeom prst="roundRect">
            <a:avLst/>
          </a:prstGeom>
          <a:solidFill>
            <a:srgbClr val="F1F6FA"/>
          </a:solidFill>
          <a:ln w="19050">
            <a:solidFill>
              <a:srgbClr val="B9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B4B"/>
                </a:solidFill>
              </a:defRPr>
            </a:pPr>
            <a:r>
              <a:t>Palo Alto</a:t>
            </a:r>
            <a:br/>
            <a:r>
              <a:t>Firewall</a:t>
            </a:r>
          </a:p>
        </p:txBody>
      </p:sp>
      <p:sp>
        <p:nvSpPr>
          <p:cNvPr id="10" name="Rounded Rectangle 9"/>
          <p:cNvSpPr/>
          <p:nvPr/>
        </p:nvSpPr>
        <p:spPr>
          <a:xfrm>
            <a:off x="9966960" y="1234440"/>
            <a:ext cx="1600200" cy="685800"/>
          </a:xfrm>
          <a:prstGeom prst="roundRect">
            <a:avLst/>
          </a:prstGeom>
          <a:solidFill>
            <a:srgbClr val="F1F6FA"/>
          </a:solidFill>
          <a:ln w="19050">
            <a:solidFill>
              <a:srgbClr val="DC8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42B4B"/>
                </a:solidFill>
              </a:defRPr>
            </a:pPr>
            <a:r>
              <a:t>Internet /</a:t>
            </a:r>
            <a:br/>
            <a:r>
              <a:t>VPN</a:t>
            </a:r>
          </a:p>
        </p:txBody>
      </p:sp>
      <p:cxnSp>
        <p:nvCxnSpPr>
          <p:cNvPr id="11" name="Connector 10"/>
          <p:cNvCxnSpPr/>
          <p:nvPr/>
        </p:nvCxnSpPr>
        <p:spPr>
          <a:xfrm>
            <a:off x="2560320" y="1572768"/>
            <a:ext cx="411480" cy="0"/>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92040" y="1572768"/>
            <a:ext cx="411480" cy="0"/>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223760" y="1572768"/>
            <a:ext cx="411480" cy="0"/>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555480" y="1572768"/>
            <a:ext cx="411480" cy="0"/>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971800" y="2788920"/>
            <a:ext cx="1920240" cy="685800"/>
          </a:xfrm>
          <a:prstGeom prst="roundRect">
            <a:avLst/>
          </a:prstGeom>
          <a:solidFill>
            <a:srgbClr val="F1F6FA"/>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2B4B"/>
                </a:solidFill>
              </a:defRPr>
            </a:pPr>
            <a:r>
              <a:t>DLS Switch</a:t>
            </a:r>
            <a:br/>
            <a:r>
              <a:t>9300</a:t>
            </a:r>
          </a:p>
        </p:txBody>
      </p:sp>
      <p:sp>
        <p:nvSpPr>
          <p:cNvPr id="16" name="Rounded Rectangle 15"/>
          <p:cNvSpPr/>
          <p:nvPr/>
        </p:nvSpPr>
        <p:spPr>
          <a:xfrm>
            <a:off x="5303520" y="2788920"/>
            <a:ext cx="1920240" cy="685800"/>
          </a:xfrm>
          <a:prstGeom prst="roundRect">
            <a:avLst/>
          </a:prstGeom>
          <a:solidFill>
            <a:srgbClr val="F1F6FA"/>
          </a:solidFill>
          <a:ln w="19050">
            <a:solidFill>
              <a:srgbClr val="DC8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SD-WAN</a:t>
            </a:r>
            <a:br/>
            <a:r>
              <a:t>Primary + DR</a:t>
            </a:r>
          </a:p>
        </p:txBody>
      </p:sp>
      <p:sp>
        <p:nvSpPr>
          <p:cNvPr id="17" name="Rounded Rectangle 16"/>
          <p:cNvSpPr/>
          <p:nvPr/>
        </p:nvSpPr>
        <p:spPr>
          <a:xfrm>
            <a:off x="7635240" y="2788920"/>
            <a:ext cx="1920240" cy="685800"/>
          </a:xfrm>
          <a:prstGeom prst="roundRect">
            <a:avLst/>
          </a:prstGeom>
          <a:solidFill>
            <a:srgbClr val="F1F6FA"/>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42B4B"/>
                </a:solidFill>
              </a:defRPr>
            </a:pPr>
            <a:r>
              <a:t>MPLS Links</a:t>
            </a:r>
            <a:br/>
            <a:r>
              <a:t>RSWM / HEG / MPCL</a:t>
            </a:r>
          </a:p>
        </p:txBody>
      </p:sp>
      <p:cxnSp>
        <p:nvCxnSpPr>
          <p:cNvPr id="18" name="Connector 17"/>
          <p:cNvCxnSpPr/>
          <p:nvPr/>
        </p:nvCxnSpPr>
        <p:spPr>
          <a:xfrm>
            <a:off x="3931920" y="1920240"/>
            <a:ext cx="0" cy="868680"/>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263640" y="2788920"/>
            <a:ext cx="0" cy="685800"/>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223760" y="3127248"/>
            <a:ext cx="411480" cy="0"/>
          </a:xfrm>
          <a:prstGeom prst="line">
            <a:avLst/>
          </a:prstGeom>
          <a:ln w="25400">
            <a:solidFill>
              <a:srgbClr val="2864A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971800" y="4343400"/>
            <a:ext cx="1920240" cy="685800"/>
          </a:xfrm>
          <a:prstGeom prst="roundRect">
            <a:avLst/>
          </a:prstGeom>
          <a:solidFill>
            <a:srgbClr val="F1F6FA"/>
          </a:solidFill>
          <a:ln w="19050">
            <a:solidFill>
              <a:srgbClr val="37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Server Farm</a:t>
            </a:r>
            <a:br/>
            <a:r>
              <a:t>Nexus 9000</a:t>
            </a:r>
          </a:p>
        </p:txBody>
      </p:sp>
      <p:sp>
        <p:nvSpPr>
          <p:cNvPr id="22" name="Rounded Rectangle 21"/>
          <p:cNvSpPr/>
          <p:nvPr/>
        </p:nvSpPr>
        <p:spPr>
          <a:xfrm>
            <a:off x="5303520" y="4343400"/>
            <a:ext cx="4251960" cy="685800"/>
          </a:xfrm>
          <a:prstGeom prst="roundRect">
            <a:avLst/>
          </a:prstGeom>
          <a:solidFill>
            <a:srgbClr val="F1F6FA"/>
          </a:solidFill>
          <a:ln w="19050">
            <a:solidFill>
              <a:srgbClr val="37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Server Farm Zone • Database • Email • Web</a:t>
            </a:r>
          </a:p>
        </p:txBody>
      </p:sp>
      <p:cxnSp>
        <p:nvCxnSpPr>
          <p:cNvPr id="23" name="Connector 22"/>
          <p:cNvCxnSpPr/>
          <p:nvPr/>
        </p:nvCxnSpPr>
        <p:spPr>
          <a:xfrm>
            <a:off x="3931920" y="3474720"/>
            <a:ext cx="0" cy="868680"/>
          </a:xfrm>
          <a:prstGeom prst="line">
            <a:avLst/>
          </a:prstGeom>
          <a:ln w="25400">
            <a:solidFill>
              <a:srgbClr val="37875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892040" y="4681728"/>
            <a:ext cx="411480" cy="0"/>
          </a:xfrm>
          <a:prstGeom prst="line">
            <a:avLst/>
          </a:prstGeom>
          <a:ln w="25400">
            <a:solidFill>
              <a:srgbClr val="37875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40080" y="4251960"/>
            <a:ext cx="1920240" cy="10058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251960"/>
            <a:ext cx="73152" cy="100584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4398264"/>
            <a:ext cx="1554480" cy="320040"/>
          </a:xfrm>
          <a:prstGeom prst="rect">
            <a:avLst/>
          </a:prstGeom>
          <a:noFill/>
        </p:spPr>
        <p:txBody>
          <a:bodyPr wrap="none">
            <a:spAutoFit/>
          </a:bodyPr>
          <a:lstStyle/>
          <a:p>
            <a:pPr>
              <a:defRPr b="1" sz="1700">
                <a:solidFill>
                  <a:srgbClr val="142B4B"/>
                </a:solidFill>
              </a:defRPr>
            </a:pPr>
            <a:r>
              <a:t>Learning</a:t>
            </a:r>
          </a:p>
        </p:txBody>
      </p:sp>
      <p:sp>
        <p:nvSpPr>
          <p:cNvPr id="28" name="TextBox 27"/>
          <p:cNvSpPr txBox="1"/>
          <p:nvPr/>
        </p:nvSpPr>
        <p:spPr>
          <a:xfrm>
            <a:off x="841247" y="4818888"/>
            <a:ext cx="1554480" cy="320040"/>
          </a:xfrm>
          <a:prstGeom prst="rect">
            <a:avLst/>
          </a:prstGeom>
          <a:noFill/>
        </p:spPr>
        <p:txBody>
          <a:bodyPr wrap="square">
            <a:spAutoFit/>
          </a:bodyPr>
          <a:lstStyle/>
          <a:p>
            <a:pPr>
              <a:defRPr sz="1250">
                <a:solidFill>
                  <a:srgbClr val="232D3A"/>
                </a:solidFill>
              </a:defRPr>
            </a:pPr>
            <a:r>
              <a:t>Layering makes the network scalable and easier to manage.</a:t>
            </a:r>
          </a:p>
        </p:txBody>
      </p:sp>
      <p:sp>
        <p:nvSpPr>
          <p:cNvPr id="29" name="Rectangle 28"/>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31" name="TextBox 30"/>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5. Switching &amp; Connectivity</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Tower 1 • Tower 2 • Data Centre</a:t>
            </a:r>
          </a:p>
        </p:txBody>
      </p:sp>
      <p:sp>
        <p:nvSpPr>
          <p:cNvPr id="6" name="Rounded Rectangle 5"/>
          <p:cNvSpPr/>
          <p:nvPr/>
        </p:nvSpPr>
        <p:spPr>
          <a:xfrm>
            <a:off x="640080" y="1097280"/>
            <a:ext cx="3383280" cy="18288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097280"/>
            <a:ext cx="73152" cy="1828800"/>
          </a:xfrm>
          <a:prstGeom prst="rect">
            <a:avLst/>
          </a:prstGeom>
          <a:solidFill>
            <a:srgbClr val="28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243584"/>
            <a:ext cx="3017520" cy="320040"/>
          </a:xfrm>
          <a:prstGeom prst="rect">
            <a:avLst/>
          </a:prstGeom>
          <a:noFill/>
        </p:spPr>
        <p:txBody>
          <a:bodyPr wrap="none">
            <a:spAutoFit/>
          </a:bodyPr>
          <a:lstStyle/>
          <a:p>
            <a:pPr>
              <a:defRPr b="1" sz="1700">
                <a:solidFill>
                  <a:srgbClr val="142B4B"/>
                </a:solidFill>
              </a:defRPr>
            </a:pPr>
            <a:r>
              <a:t>Tower 1 Access</a:t>
            </a:r>
          </a:p>
        </p:txBody>
      </p:sp>
      <p:sp>
        <p:nvSpPr>
          <p:cNvPr id="9" name="TextBox 8"/>
          <p:cNvSpPr txBox="1"/>
          <p:nvPr/>
        </p:nvSpPr>
        <p:spPr>
          <a:xfrm>
            <a:off x="841247" y="1664207"/>
            <a:ext cx="3017520" cy="1143000"/>
          </a:xfrm>
          <a:prstGeom prst="rect">
            <a:avLst/>
          </a:prstGeom>
          <a:noFill/>
        </p:spPr>
        <p:txBody>
          <a:bodyPr wrap="square">
            <a:spAutoFit/>
          </a:bodyPr>
          <a:lstStyle/>
          <a:p>
            <a:pPr>
              <a:defRPr sz="1250">
                <a:solidFill>
                  <a:srgbClr val="232D3A"/>
                </a:solidFill>
              </a:defRPr>
            </a:pPr>
            <a:r>
              <a:t>Seven access switches cover the 1st–6th floors plus a dedicated 3rd-floor Wi-Fi switch. They connect to the Core Switch using RJ45.</a:t>
            </a:r>
          </a:p>
        </p:txBody>
      </p:sp>
      <p:sp>
        <p:nvSpPr>
          <p:cNvPr id="10" name="Rounded Rectangle 9"/>
          <p:cNvSpPr/>
          <p:nvPr/>
        </p:nvSpPr>
        <p:spPr>
          <a:xfrm>
            <a:off x="4389120" y="1097280"/>
            <a:ext cx="3383280" cy="18288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097280"/>
            <a:ext cx="73152" cy="182880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243584"/>
            <a:ext cx="3017520" cy="320040"/>
          </a:xfrm>
          <a:prstGeom prst="rect">
            <a:avLst/>
          </a:prstGeom>
          <a:noFill/>
        </p:spPr>
        <p:txBody>
          <a:bodyPr wrap="none">
            <a:spAutoFit/>
          </a:bodyPr>
          <a:lstStyle/>
          <a:p>
            <a:pPr>
              <a:defRPr b="1" sz="1700">
                <a:solidFill>
                  <a:srgbClr val="142B4B"/>
                </a:solidFill>
              </a:defRPr>
            </a:pPr>
            <a:r>
              <a:t>Core &amp; Distribution</a:t>
            </a:r>
          </a:p>
        </p:txBody>
      </p:sp>
      <p:sp>
        <p:nvSpPr>
          <p:cNvPr id="13" name="TextBox 12"/>
          <p:cNvSpPr txBox="1"/>
          <p:nvPr/>
        </p:nvSpPr>
        <p:spPr>
          <a:xfrm>
            <a:off x="4590288" y="1664207"/>
            <a:ext cx="3017520" cy="1143000"/>
          </a:xfrm>
          <a:prstGeom prst="rect">
            <a:avLst/>
          </a:prstGeom>
          <a:noFill/>
        </p:spPr>
        <p:txBody>
          <a:bodyPr wrap="square">
            <a:spAutoFit/>
          </a:bodyPr>
          <a:lstStyle/>
          <a:p>
            <a:pPr>
              <a:defRPr sz="1250">
                <a:solidFill>
                  <a:srgbClr val="232D3A"/>
                </a:solidFill>
              </a:defRPr>
            </a:pPr>
            <a:r>
              <a:t>Cisco Catalyst 3850 acts as the central aggregation point. DCSWITCH and DLS 3900 form the next distribution layer.</a:t>
            </a:r>
          </a:p>
        </p:txBody>
      </p:sp>
      <p:sp>
        <p:nvSpPr>
          <p:cNvPr id="14" name="Rounded Rectangle 13"/>
          <p:cNvSpPr/>
          <p:nvPr/>
        </p:nvSpPr>
        <p:spPr>
          <a:xfrm>
            <a:off x="8138160" y="1097280"/>
            <a:ext cx="3383280" cy="18288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097280"/>
            <a:ext cx="73152" cy="1828800"/>
          </a:xfrm>
          <a:prstGeom prst="rect">
            <a:avLst/>
          </a:prstGeom>
          <a:solidFill>
            <a:srgbClr val="37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1243584"/>
            <a:ext cx="3017520" cy="320040"/>
          </a:xfrm>
          <a:prstGeom prst="rect">
            <a:avLst/>
          </a:prstGeom>
          <a:noFill/>
        </p:spPr>
        <p:txBody>
          <a:bodyPr wrap="none">
            <a:spAutoFit/>
          </a:bodyPr>
          <a:lstStyle/>
          <a:p>
            <a:pPr>
              <a:defRPr b="1" sz="1700">
                <a:solidFill>
                  <a:srgbClr val="142B4B"/>
                </a:solidFill>
              </a:defRPr>
            </a:pPr>
            <a:r>
              <a:t>Tower 2</a:t>
            </a:r>
          </a:p>
        </p:txBody>
      </p:sp>
      <p:sp>
        <p:nvSpPr>
          <p:cNvPr id="17" name="TextBox 16"/>
          <p:cNvSpPr txBox="1"/>
          <p:nvPr/>
        </p:nvSpPr>
        <p:spPr>
          <a:xfrm>
            <a:off x="8339328" y="1664207"/>
            <a:ext cx="3017520" cy="1143000"/>
          </a:xfrm>
          <a:prstGeom prst="rect">
            <a:avLst/>
          </a:prstGeom>
          <a:noFill/>
        </p:spPr>
        <p:txBody>
          <a:bodyPr wrap="square">
            <a:spAutoFit/>
          </a:bodyPr>
          <a:lstStyle/>
          <a:p>
            <a:pPr>
              <a:defRPr sz="1250">
                <a:solidFill>
                  <a:srgbClr val="232D3A"/>
                </a:solidFill>
              </a:defRPr>
            </a:pPr>
            <a:r>
              <a:t>Five switches serve Tower 2 areas and connect back to the DLS 3900 through fiber for longer-distance, high-bandwidth links.</a:t>
            </a:r>
          </a:p>
        </p:txBody>
      </p:sp>
      <p:sp>
        <p:nvSpPr>
          <p:cNvPr id="18" name="TextBox 17"/>
          <p:cNvSpPr txBox="1"/>
          <p:nvPr/>
        </p:nvSpPr>
        <p:spPr>
          <a:xfrm>
            <a:off x="777240" y="3474720"/>
            <a:ext cx="10515600" cy="2011680"/>
          </a:xfrm>
          <a:prstGeom prst="rect">
            <a:avLst/>
          </a:prstGeom>
          <a:noFill/>
        </p:spPr>
        <p:txBody>
          <a:bodyPr wrap="square">
            <a:spAutoFit/>
          </a:bodyPr>
          <a:lstStyle/>
          <a:p>
            <a:pPr>
              <a:spcAft>
                <a:spcPts val="1000"/>
              </a:spcAft>
              <a:defRPr sz="1700">
                <a:solidFill>
                  <a:srgbClr val="232D3A"/>
                </a:solidFill>
              </a:defRPr>
            </a:pPr>
            <a:r>
              <a:t>• Primary/secondary RJ45 links connect floor switches to the Core Switch.</a:t>
            </a:r>
          </a:p>
          <a:p>
            <a:pPr>
              <a:spcAft>
                <a:spcPts val="1000"/>
              </a:spcAft>
              <a:defRPr sz="1700">
                <a:solidFill>
                  <a:srgbClr val="232D3A"/>
                </a:solidFill>
              </a:defRPr>
            </a:pPr>
            <a:r>
              <a:t>• Fiber optic links extend connectivity from the DLS 3900 to Tower 2.</a:t>
            </a:r>
          </a:p>
          <a:p>
            <a:pPr>
              <a:spcAft>
                <a:spcPts val="1000"/>
              </a:spcAft>
              <a:defRPr sz="1700">
                <a:solidFill>
                  <a:srgbClr val="232D3A"/>
                </a:solidFill>
              </a:defRPr>
            </a:pPr>
            <a:r>
              <a:t>• A structured switching hierarchy improves scalability, organization, and troubleshooting.</a:t>
            </a:r>
          </a:p>
        </p:txBody>
      </p:sp>
      <p:sp>
        <p:nvSpPr>
          <p:cNvPr id="19" name="Rectangle 18"/>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21" name="TextBox 20"/>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6. Data Centre Monitoring</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Infrastructure health in real time</a:t>
            </a:r>
          </a:p>
        </p:txBody>
      </p:sp>
      <p:sp>
        <p:nvSpPr>
          <p:cNvPr id="6" name="Rounded Rectangle 5"/>
          <p:cNvSpPr/>
          <p:nvPr/>
        </p:nvSpPr>
        <p:spPr>
          <a:xfrm>
            <a:off x="640080" y="1097280"/>
            <a:ext cx="3429000" cy="14630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097280"/>
            <a:ext cx="73152" cy="1463040"/>
          </a:xfrm>
          <a:prstGeom prst="rect">
            <a:avLst/>
          </a:prstGeom>
          <a:solidFill>
            <a:srgbClr val="28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243584"/>
            <a:ext cx="3063240" cy="320040"/>
          </a:xfrm>
          <a:prstGeom prst="rect">
            <a:avLst/>
          </a:prstGeom>
          <a:noFill/>
        </p:spPr>
        <p:txBody>
          <a:bodyPr wrap="none">
            <a:spAutoFit/>
          </a:bodyPr>
          <a:lstStyle/>
          <a:p>
            <a:pPr>
              <a:defRPr b="1" sz="1700">
                <a:solidFill>
                  <a:srgbClr val="142B4B"/>
                </a:solidFill>
              </a:defRPr>
            </a:pPr>
            <a:r>
              <a:t>Dashboard Monitoring</a:t>
            </a:r>
          </a:p>
        </p:txBody>
      </p:sp>
      <p:sp>
        <p:nvSpPr>
          <p:cNvPr id="9" name="TextBox 8"/>
          <p:cNvSpPr txBox="1"/>
          <p:nvPr/>
        </p:nvSpPr>
        <p:spPr>
          <a:xfrm>
            <a:off x="841247" y="1664207"/>
            <a:ext cx="3063240" cy="777240"/>
          </a:xfrm>
          <a:prstGeom prst="rect">
            <a:avLst/>
          </a:prstGeom>
          <a:noFill/>
        </p:spPr>
        <p:txBody>
          <a:bodyPr wrap="square">
            <a:spAutoFit/>
          </a:bodyPr>
          <a:lstStyle/>
          <a:p>
            <a:pPr>
              <a:defRPr sz="1250">
                <a:solidFill>
                  <a:srgbClr val="232D3A"/>
                </a:solidFill>
              </a:defRPr>
            </a:pPr>
            <a:r>
              <a:t>A central dashboard provides quick navigation to monitored applications and equipment across the data centre.</a:t>
            </a:r>
          </a:p>
        </p:txBody>
      </p:sp>
      <p:sp>
        <p:nvSpPr>
          <p:cNvPr id="10" name="Rounded Rectangle 9"/>
          <p:cNvSpPr/>
          <p:nvPr/>
        </p:nvSpPr>
        <p:spPr>
          <a:xfrm>
            <a:off x="4389120" y="1097280"/>
            <a:ext cx="3429000" cy="14630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097280"/>
            <a:ext cx="73152" cy="146304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243584"/>
            <a:ext cx="3063240" cy="320040"/>
          </a:xfrm>
          <a:prstGeom prst="rect">
            <a:avLst/>
          </a:prstGeom>
          <a:noFill/>
        </p:spPr>
        <p:txBody>
          <a:bodyPr wrap="none">
            <a:spAutoFit/>
          </a:bodyPr>
          <a:lstStyle/>
          <a:p>
            <a:pPr>
              <a:defRPr b="1" sz="1700">
                <a:solidFill>
                  <a:srgbClr val="142B4B"/>
                </a:solidFill>
              </a:defRPr>
            </a:pPr>
            <a:r>
              <a:t>PAC &amp; Environment</a:t>
            </a:r>
          </a:p>
        </p:txBody>
      </p:sp>
      <p:sp>
        <p:nvSpPr>
          <p:cNvPr id="13" name="TextBox 12"/>
          <p:cNvSpPr txBox="1"/>
          <p:nvPr/>
        </p:nvSpPr>
        <p:spPr>
          <a:xfrm>
            <a:off x="4590288" y="1664207"/>
            <a:ext cx="3063240" cy="777240"/>
          </a:xfrm>
          <a:prstGeom prst="rect">
            <a:avLst/>
          </a:prstGeom>
          <a:noFill/>
        </p:spPr>
        <p:txBody>
          <a:bodyPr wrap="square">
            <a:spAutoFit/>
          </a:bodyPr>
          <a:lstStyle/>
          <a:p>
            <a:pPr>
              <a:defRPr sz="1250">
                <a:solidFill>
                  <a:srgbClr val="232D3A"/>
                </a:solidFill>
              </a:defRPr>
            </a:pPr>
            <a:r>
              <a:t>PAC units track temperature, humidity, cooling, fan speed, and maintenance status.</a:t>
            </a:r>
          </a:p>
        </p:txBody>
      </p:sp>
      <p:sp>
        <p:nvSpPr>
          <p:cNvPr id="14" name="Rounded Rectangle 13"/>
          <p:cNvSpPr/>
          <p:nvPr/>
        </p:nvSpPr>
        <p:spPr>
          <a:xfrm>
            <a:off x="8138160" y="1097280"/>
            <a:ext cx="3429000" cy="146304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097280"/>
            <a:ext cx="73152" cy="1463040"/>
          </a:xfrm>
          <a:prstGeom prst="rect">
            <a:avLst/>
          </a:prstGeom>
          <a:solidFill>
            <a:srgbClr val="37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1243584"/>
            <a:ext cx="3063240" cy="320040"/>
          </a:xfrm>
          <a:prstGeom prst="rect">
            <a:avLst/>
          </a:prstGeom>
          <a:noFill/>
        </p:spPr>
        <p:txBody>
          <a:bodyPr wrap="none">
            <a:spAutoFit/>
          </a:bodyPr>
          <a:lstStyle/>
          <a:p>
            <a:pPr>
              <a:defRPr b="1" sz="1700">
                <a:solidFill>
                  <a:srgbClr val="142B4B"/>
                </a:solidFill>
              </a:defRPr>
            </a:pPr>
            <a:r>
              <a:t>Infrastructure Health</a:t>
            </a:r>
          </a:p>
        </p:txBody>
      </p:sp>
      <p:sp>
        <p:nvSpPr>
          <p:cNvPr id="17" name="TextBox 16"/>
          <p:cNvSpPr txBox="1"/>
          <p:nvPr/>
        </p:nvSpPr>
        <p:spPr>
          <a:xfrm>
            <a:off x="8339328" y="1664207"/>
            <a:ext cx="3063240" cy="777240"/>
          </a:xfrm>
          <a:prstGeom prst="rect">
            <a:avLst/>
          </a:prstGeom>
          <a:noFill/>
        </p:spPr>
        <p:txBody>
          <a:bodyPr wrap="square">
            <a:spAutoFit/>
          </a:bodyPr>
          <a:lstStyle/>
          <a:p>
            <a:pPr>
              <a:defRPr sz="1250">
                <a:solidFill>
                  <a:srgbClr val="232D3A"/>
                </a:solidFill>
              </a:defRPr>
            </a:pPr>
            <a:r>
              <a:t>Windows, UPS, firewalls, routers, and switches are represented through up/down status and alerts.</a:t>
            </a:r>
          </a:p>
        </p:txBody>
      </p:sp>
      <p:sp>
        <p:nvSpPr>
          <p:cNvPr id="18" name="Rounded Rectangle 17"/>
          <p:cNvSpPr/>
          <p:nvPr/>
        </p:nvSpPr>
        <p:spPr>
          <a:xfrm>
            <a:off x="731520" y="3337560"/>
            <a:ext cx="1828800" cy="777240"/>
          </a:xfrm>
          <a:prstGeom prst="roundRect">
            <a:avLst/>
          </a:prstGeom>
          <a:solidFill>
            <a:srgbClr val="F1F6FA"/>
          </a:solidFill>
          <a:ln w="19050">
            <a:solidFill>
              <a:srgbClr val="2D9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Sensors /</a:t>
            </a:r>
            <a:br/>
            <a:r>
              <a:t>Devices</a:t>
            </a:r>
          </a:p>
        </p:txBody>
      </p:sp>
      <p:sp>
        <p:nvSpPr>
          <p:cNvPr id="19" name="Rounded Rectangle 18"/>
          <p:cNvSpPr/>
          <p:nvPr/>
        </p:nvSpPr>
        <p:spPr>
          <a:xfrm>
            <a:off x="3200400" y="3337560"/>
            <a:ext cx="1828800" cy="777240"/>
          </a:xfrm>
          <a:prstGeom prst="roundRect">
            <a:avLst/>
          </a:prstGeom>
          <a:solidFill>
            <a:srgbClr val="F1F6FA"/>
          </a:solidFill>
          <a:ln w="19050">
            <a:solidFill>
              <a:srgbClr val="286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Monitoring</a:t>
            </a:r>
            <a:br/>
            <a:r>
              <a:t>Dashboard</a:t>
            </a:r>
          </a:p>
        </p:txBody>
      </p:sp>
      <p:sp>
        <p:nvSpPr>
          <p:cNvPr id="20" name="Rounded Rectangle 19"/>
          <p:cNvSpPr/>
          <p:nvPr/>
        </p:nvSpPr>
        <p:spPr>
          <a:xfrm>
            <a:off x="5715000" y="3337560"/>
            <a:ext cx="1828800" cy="777240"/>
          </a:xfrm>
          <a:prstGeom prst="roundRect">
            <a:avLst/>
          </a:prstGeom>
          <a:solidFill>
            <a:srgbClr val="F1F6FA"/>
          </a:solidFill>
          <a:ln w="19050">
            <a:solidFill>
              <a:srgbClr val="DC8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Alerts /</a:t>
            </a:r>
            <a:br/>
            <a:r>
              <a:t>Status</a:t>
            </a:r>
          </a:p>
        </p:txBody>
      </p:sp>
      <p:sp>
        <p:nvSpPr>
          <p:cNvPr id="21" name="Rounded Rectangle 20"/>
          <p:cNvSpPr/>
          <p:nvPr/>
        </p:nvSpPr>
        <p:spPr>
          <a:xfrm>
            <a:off x="8229600" y="3337560"/>
            <a:ext cx="1828800" cy="777240"/>
          </a:xfrm>
          <a:prstGeom prst="roundRect">
            <a:avLst/>
          </a:prstGeom>
          <a:solidFill>
            <a:srgbClr val="F1F6FA"/>
          </a:solidFill>
          <a:ln w="19050">
            <a:solidFill>
              <a:srgbClr val="37875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2B4B"/>
                </a:solidFill>
              </a:defRPr>
            </a:pPr>
            <a:r>
              <a:t>Shift Manager</a:t>
            </a:r>
            <a:br/>
            <a:r>
              <a:t>Action</a:t>
            </a:r>
          </a:p>
        </p:txBody>
      </p:sp>
      <p:cxnSp>
        <p:nvCxnSpPr>
          <p:cNvPr id="22" name="Connector 21"/>
          <p:cNvCxnSpPr/>
          <p:nvPr/>
        </p:nvCxnSpPr>
        <p:spPr>
          <a:xfrm>
            <a:off x="2560320" y="3721608"/>
            <a:ext cx="640080" cy="0"/>
          </a:xfrm>
          <a:prstGeom prst="line">
            <a:avLst/>
          </a:prstGeom>
          <a:ln w="31750">
            <a:solidFill>
              <a:srgbClr val="2864A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029200" y="3721608"/>
            <a:ext cx="685800" cy="0"/>
          </a:xfrm>
          <a:prstGeom prst="line">
            <a:avLst/>
          </a:prstGeom>
          <a:ln w="31750">
            <a:solidFill>
              <a:srgbClr val="DC873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543800" y="3721608"/>
            <a:ext cx="685800" cy="0"/>
          </a:xfrm>
          <a:prstGeom prst="line">
            <a:avLst/>
          </a:prstGeom>
          <a:ln w="31750">
            <a:solidFill>
              <a:srgbClr val="37875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7240" y="4572000"/>
            <a:ext cx="10515600" cy="1371600"/>
          </a:xfrm>
          <a:prstGeom prst="rect">
            <a:avLst/>
          </a:prstGeom>
          <a:noFill/>
        </p:spPr>
        <p:txBody>
          <a:bodyPr wrap="square">
            <a:spAutoFit/>
          </a:bodyPr>
          <a:lstStyle/>
          <a:p>
            <a:pPr>
              <a:spcAft>
                <a:spcPts val="1000"/>
              </a:spcAft>
              <a:defRPr sz="1400">
                <a:solidFill>
                  <a:srgbClr val="232D3A"/>
                </a:solidFill>
              </a:defRPr>
            </a:pPr>
            <a:r>
              <a:t>• UPS monitoring shows bypass, input, battery, output, voltage, amperage, load, and active alarms.</a:t>
            </a:r>
          </a:p>
          <a:p>
            <a:pPr>
              <a:spcAft>
                <a:spcPts val="1000"/>
              </a:spcAft>
              <a:defRPr sz="1400">
                <a:solidFill>
                  <a:srgbClr val="232D3A"/>
                </a:solidFill>
              </a:defRPr>
            </a:pPr>
            <a:r>
              <a:t>• Purafil OnGuard tracks corrosion indicators along with temperature and humidity.</a:t>
            </a:r>
          </a:p>
          <a:p>
            <a:pPr>
              <a:spcAft>
                <a:spcPts val="1000"/>
              </a:spcAft>
              <a:defRPr sz="1400">
                <a:solidFill>
                  <a:srgbClr val="232D3A"/>
                </a:solidFill>
              </a:defRPr>
            </a:pPr>
            <a:r>
              <a:t>• CCTV supports physical security monitoring of network, data centre, fire-control, and UPS areas.</a:t>
            </a:r>
          </a:p>
        </p:txBody>
      </p:sp>
      <p:sp>
        <p:nvSpPr>
          <p:cNvPr id="26" name="Rectangle 25"/>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28" name="TextBox 27"/>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7. Security Policies &amp; Controls</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Protecting access, systems, and facilities</a:t>
            </a:r>
          </a:p>
        </p:txBody>
      </p:sp>
      <p:sp>
        <p:nvSpPr>
          <p:cNvPr id="6" name="Rounded Rectangle 5"/>
          <p:cNvSpPr/>
          <p:nvPr/>
        </p:nvSpPr>
        <p:spPr>
          <a:xfrm>
            <a:off x="640080" y="1097280"/>
            <a:ext cx="3108960" cy="15087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097280"/>
            <a:ext cx="73152" cy="150876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243584"/>
            <a:ext cx="2743200" cy="320040"/>
          </a:xfrm>
          <a:prstGeom prst="rect">
            <a:avLst/>
          </a:prstGeom>
          <a:noFill/>
        </p:spPr>
        <p:txBody>
          <a:bodyPr wrap="none">
            <a:spAutoFit/>
          </a:bodyPr>
          <a:lstStyle/>
          <a:p>
            <a:pPr>
              <a:defRPr b="1" sz="1700">
                <a:solidFill>
                  <a:srgbClr val="142B4B"/>
                </a:solidFill>
              </a:defRPr>
            </a:pPr>
            <a:r>
              <a:t>Network Access</a:t>
            </a:r>
          </a:p>
        </p:txBody>
      </p:sp>
      <p:sp>
        <p:nvSpPr>
          <p:cNvPr id="9" name="TextBox 8"/>
          <p:cNvSpPr txBox="1"/>
          <p:nvPr/>
        </p:nvSpPr>
        <p:spPr>
          <a:xfrm>
            <a:off x="841247" y="1664207"/>
            <a:ext cx="2743200" cy="822959"/>
          </a:xfrm>
          <a:prstGeom prst="rect">
            <a:avLst/>
          </a:prstGeom>
          <a:noFill/>
        </p:spPr>
        <p:txBody>
          <a:bodyPr wrap="square">
            <a:spAutoFit/>
          </a:bodyPr>
          <a:lstStyle/>
          <a:p>
            <a:pPr>
              <a:defRPr sz="1250">
                <a:solidFill>
                  <a:srgbClr val="232D3A"/>
                </a:solidFill>
              </a:defRPr>
            </a:pPr>
            <a:r>
              <a:t>Firewall routing, periodic rule review, secure design, vulnerability assessment</a:t>
            </a:r>
          </a:p>
        </p:txBody>
      </p:sp>
      <p:sp>
        <p:nvSpPr>
          <p:cNvPr id="10" name="Rounded Rectangle 9"/>
          <p:cNvSpPr/>
          <p:nvPr/>
        </p:nvSpPr>
        <p:spPr>
          <a:xfrm>
            <a:off x="4069080" y="1097280"/>
            <a:ext cx="3108960" cy="15087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69080" y="1097280"/>
            <a:ext cx="73152" cy="1508760"/>
          </a:xfrm>
          <a:prstGeom prst="rect">
            <a:avLst/>
          </a:prstGeom>
          <a:solidFill>
            <a:srgbClr val="28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0248" y="1243584"/>
            <a:ext cx="2743200" cy="320040"/>
          </a:xfrm>
          <a:prstGeom prst="rect">
            <a:avLst/>
          </a:prstGeom>
          <a:noFill/>
        </p:spPr>
        <p:txBody>
          <a:bodyPr wrap="none">
            <a:spAutoFit/>
          </a:bodyPr>
          <a:lstStyle/>
          <a:p>
            <a:pPr>
              <a:defRPr b="1" sz="1700">
                <a:solidFill>
                  <a:srgbClr val="142B4B"/>
                </a:solidFill>
              </a:defRPr>
            </a:pPr>
            <a:r>
              <a:t>Identity &amp; Privilege</a:t>
            </a:r>
          </a:p>
        </p:txBody>
      </p:sp>
      <p:sp>
        <p:nvSpPr>
          <p:cNvPr id="13" name="TextBox 12"/>
          <p:cNvSpPr txBox="1"/>
          <p:nvPr/>
        </p:nvSpPr>
        <p:spPr>
          <a:xfrm>
            <a:off x="4270248" y="1664207"/>
            <a:ext cx="2743200" cy="822959"/>
          </a:xfrm>
          <a:prstGeom prst="rect">
            <a:avLst/>
          </a:prstGeom>
          <a:noFill/>
        </p:spPr>
        <p:txBody>
          <a:bodyPr wrap="square">
            <a:spAutoFit/>
          </a:bodyPr>
          <a:lstStyle/>
          <a:p>
            <a:pPr>
              <a:defRPr sz="1250">
                <a:solidFill>
                  <a:srgbClr val="232D3A"/>
                </a:solidFill>
              </a:defRPr>
            </a:pPr>
            <a:r>
              <a:t>Strong passwords, role-based access, separate admin accounts, MFA for remote access</a:t>
            </a:r>
          </a:p>
        </p:txBody>
      </p:sp>
      <p:sp>
        <p:nvSpPr>
          <p:cNvPr id="14" name="Rounded Rectangle 13"/>
          <p:cNvSpPr/>
          <p:nvPr/>
        </p:nvSpPr>
        <p:spPr>
          <a:xfrm>
            <a:off x="7498079" y="1097280"/>
            <a:ext cx="3108960" cy="15087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79" y="1097280"/>
            <a:ext cx="73152" cy="150876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99248" y="1243584"/>
            <a:ext cx="2743200" cy="320040"/>
          </a:xfrm>
          <a:prstGeom prst="rect">
            <a:avLst/>
          </a:prstGeom>
          <a:noFill/>
        </p:spPr>
        <p:txBody>
          <a:bodyPr wrap="none">
            <a:spAutoFit/>
          </a:bodyPr>
          <a:lstStyle/>
          <a:p>
            <a:pPr>
              <a:defRPr b="1" sz="1700">
                <a:solidFill>
                  <a:srgbClr val="142B4B"/>
                </a:solidFill>
              </a:defRPr>
            </a:pPr>
            <a:r>
              <a:t>Segmentation</a:t>
            </a:r>
          </a:p>
        </p:txBody>
      </p:sp>
      <p:sp>
        <p:nvSpPr>
          <p:cNvPr id="17" name="TextBox 16"/>
          <p:cNvSpPr txBox="1"/>
          <p:nvPr/>
        </p:nvSpPr>
        <p:spPr>
          <a:xfrm>
            <a:off x="7699248" y="1664207"/>
            <a:ext cx="2743200" cy="822959"/>
          </a:xfrm>
          <a:prstGeom prst="rect">
            <a:avLst/>
          </a:prstGeom>
          <a:noFill/>
        </p:spPr>
        <p:txBody>
          <a:bodyPr wrap="square">
            <a:spAutoFit/>
          </a:bodyPr>
          <a:lstStyle/>
          <a:p>
            <a:pPr>
              <a:defRPr sz="1250">
                <a:solidFill>
                  <a:srgbClr val="232D3A"/>
                </a:solidFill>
              </a:defRPr>
            </a:pPr>
            <a:r>
              <a:t>Separate guest/corporate/critical traffic using VLANs; maintain network inventory</a:t>
            </a:r>
          </a:p>
        </p:txBody>
      </p:sp>
      <p:sp>
        <p:nvSpPr>
          <p:cNvPr id="18" name="Rounded Rectangle 17"/>
          <p:cNvSpPr/>
          <p:nvPr/>
        </p:nvSpPr>
        <p:spPr>
          <a:xfrm>
            <a:off x="640080" y="3063240"/>
            <a:ext cx="3108960" cy="15087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063240"/>
            <a:ext cx="73152" cy="1508760"/>
          </a:xfrm>
          <a:prstGeom prst="rect">
            <a:avLst/>
          </a:prstGeom>
          <a:solidFill>
            <a:srgbClr val="37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209544"/>
            <a:ext cx="2743200" cy="320040"/>
          </a:xfrm>
          <a:prstGeom prst="rect">
            <a:avLst/>
          </a:prstGeom>
          <a:noFill/>
        </p:spPr>
        <p:txBody>
          <a:bodyPr wrap="none">
            <a:spAutoFit/>
          </a:bodyPr>
          <a:lstStyle/>
          <a:p>
            <a:pPr>
              <a:defRPr b="1" sz="1700">
                <a:solidFill>
                  <a:srgbClr val="142B4B"/>
                </a:solidFill>
              </a:defRPr>
            </a:pPr>
            <a:r>
              <a:t>Physical Security</a:t>
            </a:r>
          </a:p>
        </p:txBody>
      </p:sp>
      <p:sp>
        <p:nvSpPr>
          <p:cNvPr id="21" name="TextBox 20"/>
          <p:cNvSpPr txBox="1"/>
          <p:nvPr/>
        </p:nvSpPr>
        <p:spPr>
          <a:xfrm>
            <a:off x="841247" y="3630168"/>
            <a:ext cx="2743200" cy="822959"/>
          </a:xfrm>
          <a:prstGeom prst="rect">
            <a:avLst/>
          </a:prstGeom>
          <a:noFill/>
        </p:spPr>
        <p:txBody>
          <a:bodyPr wrap="square">
            <a:spAutoFit/>
          </a:bodyPr>
          <a:lstStyle/>
          <a:p>
            <a:pPr>
              <a:defRPr sz="1250">
                <a:solidFill>
                  <a:srgbClr val="232D3A"/>
                </a:solidFill>
              </a:defRPr>
            </a:pPr>
            <a:r>
              <a:t>Restricted server-room access, visitor logging, CCTV, controlled environments</a:t>
            </a:r>
          </a:p>
        </p:txBody>
      </p:sp>
      <p:sp>
        <p:nvSpPr>
          <p:cNvPr id="22" name="Rounded Rectangle 21"/>
          <p:cNvSpPr/>
          <p:nvPr/>
        </p:nvSpPr>
        <p:spPr>
          <a:xfrm>
            <a:off x="4069080" y="3063240"/>
            <a:ext cx="3108960" cy="15087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69080" y="3063240"/>
            <a:ext cx="73152" cy="1508760"/>
          </a:xfrm>
          <a:prstGeom prst="rect">
            <a:avLst/>
          </a:prstGeom>
          <a:solidFill>
            <a:srgbClr val="DC8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0248" y="3209544"/>
            <a:ext cx="2743200" cy="320040"/>
          </a:xfrm>
          <a:prstGeom prst="rect">
            <a:avLst/>
          </a:prstGeom>
          <a:noFill/>
        </p:spPr>
        <p:txBody>
          <a:bodyPr wrap="none">
            <a:spAutoFit/>
          </a:bodyPr>
          <a:lstStyle/>
          <a:p>
            <a:pPr>
              <a:defRPr b="1" sz="1700">
                <a:solidFill>
                  <a:srgbClr val="142B4B"/>
                </a:solidFill>
              </a:defRPr>
            </a:pPr>
            <a:r>
              <a:t>Resilience</a:t>
            </a:r>
          </a:p>
        </p:txBody>
      </p:sp>
      <p:sp>
        <p:nvSpPr>
          <p:cNvPr id="25" name="TextBox 24"/>
          <p:cNvSpPr txBox="1"/>
          <p:nvPr/>
        </p:nvSpPr>
        <p:spPr>
          <a:xfrm>
            <a:off x="4270248" y="3630168"/>
            <a:ext cx="2743200" cy="822959"/>
          </a:xfrm>
          <a:prstGeom prst="rect">
            <a:avLst/>
          </a:prstGeom>
          <a:noFill/>
        </p:spPr>
        <p:txBody>
          <a:bodyPr wrap="square">
            <a:spAutoFit/>
          </a:bodyPr>
          <a:lstStyle/>
          <a:p>
            <a:pPr>
              <a:defRPr sz="1250">
                <a:solidFill>
                  <a:srgbClr val="232D3A"/>
                </a:solidFill>
              </a:defRPr>
            </a:pPr>
            <a:r>
              <a:t>UPS, redundant cooling, fire suppression, temperature/humidity monitoring</a:t>
            </a:r>
          </a:p>
        </p:txBody>
      </p:sp>
      <p:sp>
        <p:nvSpPr>
          <p:cNvPr id="26" name="Rounded Rectangle 25"/>
          <p:cNvSpPr/>
          <p:nvPr/>
        </p:nvSpPr>
        <p:spPr>
          <a:xfrm>
            <a:off x="7498079" y="3063240"/>
            <a:ext cx="3108960" cy="15087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79" y="3063240"/>
            <a:ext cx="73152" cy="1508760"/>
          </a:xfrm>
          <a:prstGeom prst="rect">
            <a:avLst/>
          </a:prstGeom>
          <a:solidFill>
            <a:srgbClr val="28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9248" y="3209544"/>
            <a:ext cx="2743200" cy="320040"/>
          </a:xfrm>
          <a:prstGeom prst="rect">
            <a:avLst/>
          </a:prstGeom>
          <a:noFill/>
        </p:spPr>
        <p:txBody>
          <a:bodyPr wrap="none">
            <a:spAutoFit/>
          </a:bodyPr>
          <a:lstStyle/>
          <a:p>
            <a:pPr>
              <a:defRPr b="1" sz="1700">
                <a:solidFill>
                  <a:srgbClr val="142B4B"/>
                </a:solidFill>
              </a:defRPr>
            </a:pPr>
            <a:r>
              <a:t>Remote &amp; Wi-Fi</a:t>
            </a:r>
          </a:p>
        </p:txBody>
      </p:sp>
      <p:sp>
        <p:nvSpPr>
          <p:cNvPr id="29" name="TextBox 28"/>
          <p:cNvSpPr txBox="1"/>
          <p:nvPr/>
        </p:nvSpPr>
        <p:spPr>
          <a:xfrm>
            <a:off x="7699248" y="3630168"/>
            <a:ext cx="2743200" cy="822959"/>
          </a:xfrm>
          <a:prstGeom prst="rect">
            <a:avLst/>
          </a:prstGeom>
          <a:noFill/>
        </p:spPr>
        <p:txBody>
          <a:bodyPr wrap="square">
            <a:spAutoFit/>
          </a:bodyPr>
          <a:lstStyle/>
          <a:p>
            <a:pPr>
              <a:defRPr sz="1250">
                <a:solidFill>
                  <a:srgbClr val="232D3A"/>
                </a:solidFill>
              </a:defRPr>
            </a:pPr>
            <a:r>
              <a:t>Approved remote-access tools, approval records, secure Wi-Fi, WPA3/strongest available</a:t>
            </a:r>
          </a:p>
        </p:txBody>
      </p:sp>
      <p:sp>
        <p:nvSpPr>
          <p:cNvPr id="30" name="Rectangle 29"/>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32" name="TextBox 31"/>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13232"/>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8686800" cy="384048"/>
          </a:xfrm>
          <a:prstGeom prst="rect">
            <a:avLst/>
          </a:prstGeom>
          <a:noFill/>
        </p:spPr>
        <p:txBody>
          <a:bodyPr wrap="none">
            <a:spAutoFit/>
          </a:bodyPr>
          <a:lstStyle/>
          <a:p>
            <a:pPr>
              <a:defRPr sz="2500" b="1">
                <a:solidFill>
                  <a:srgbClr val="FFFFFF"/>
                </a:solidFill>
              </a:defRPr>
            </a:pPr>
            <a:r>
              <a:t>8. What I Learnt</a:t>
            </a:r>
          </a:p>
        </p:txBody>
      </p:sp>
      <p:sp>
        <p:nvSpPr>
          <p:cNvPr id="5" name="TextBox 4"/>
          <p:cNvSpPr txBox="1"/>
          <p:nvPr/>
        </p:nvSpPr>
        <p:spPr>
          <a:xfrm>
            <a:off x="8869680" y="155448"/>
            <a:ext cx="2788920" cy="329184"/>
          </a:xfrm>
          <a:prstGeom prst="rect">
            <a:avLst/>
          </a:prstGeom>
          <a:noFill/>
        </p:spPr>
        <p:txBody>
          <a:bodyPr wrap="none">
            <a:spAutoFit/>
          </a:bodyPr>
          <a:lstStyle/>
          <a:p>
            <a:pPr algn="r">
              <a:defRPr sz="1100">
                <a:solidFill>
                  <a:srgbClr val="CDDCEB"/>
                </a:solidFill>
              </a:defRPr>
            </a:pPr>
            <a:r>
              <a:t>Key internship takeaways</a:t>
            </a:r>
          </a:p>
        </p:txBody>
      </p:sp>
      <p:sp>
        <p:nvSpPr>
          <p:cNvPr id="6" name="Rounded Rectangle 5"/>
          <p:cNvSpPr/>
          <p:nvPr/>
        </p:nvSpPr>
        <p:spPr>
          <a:xfrm>
            <a:off x="640080" y="1097280"/>
            <a:ext cx="3474720" cy="19659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097280"/>
            <a:ext cx="73152" cy="1965960"/>
          </a:xfrm>
          <a:prstGeom prst="rect">
            <a:avLst/>
          </a:prstGeom>
          <a:solidFill>
            <a:srgbClr val="286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243584"/>
            <a:ext cx="3108960" cy="320040"/>
          </a:xfrm>
          <a:prstGeom prst="rect">
            <a:avLst/>
          </a:prstGeom>
          <a:noFill/>
        </p:spPr>
        <p:txBody>
          <a:bodyPr wrap="none">
            <a:spAutoFit/>
          </a:bodyPr>
          <a:lstStyle/>
          <a:p>
            <a:pPr>
              <a:defRPr b="1" sz="1700">
                <a:solidFill>
                  <a:srgbClr val="142B4B"/>
                </a:solidFill>
              </a:defRPr>
            </a:pPr>
            <a:r>
              <a:t>Networking</a:t>
            </a:r>
          </a:p>
        </p:txBody>
      </p:sp>
      <p:sp>
        <p:nvSpPr>
          <p:cNvPr id="9" name="TextBox 8"/>
          <p:cNvSpPr txBox="1"/>
          <p:nvPr/>
        </p:nvSpPr>
        <p:spPr>
          <a:xfrm>
            <a:off x="841247" y="1664207"/>
            <a:ext cx="3108960" cy="1280160"/>
          </a:xfrm>
          <a:prstGeom prst="rect">
            <a:avLst/>
          </a:prstGeom>
          <a:noFill/>
        </p:spPr>
        <p:txBody>
          <a:bodyPr wrap="square">
            <a:spAutoFit/>
          </a:bodyPr>
          <a:lstStyle/>
          <a:p>
            <a:pPr>
              <a:defRPr sz="1250">
                <a:solidFill>
                  <a:srgbClr val="232D3A"/>
                </a:solidFill>
              </a:defRPr>
            </a:pPr>
            <a:r>
              <a:t>Understood how MPLS, SD-WAN, routers, switches, fiber, RJ45, LAN/WLAN, and layered network architecture work together.</a:t>
            </a:r>
          </a:p>
        </p:txBody>
      </p:sp>
      <p:sp>
        <p:nvSpPr>
          <p:cNvPr id="10" name="Rounded Rectangle 9"/>
          <p:cNvSpPr/>
          <p:nvPr/>
        </p:nvSpPr>
        <p:spPr>
          <a:xfrm>
            <a:off x="4343400" y="1097280"/>
            <a:ext cx="3474720" cy="19659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097280"/>
            <a:ext cx="73152" cy="1965960"/>
          </a:xfrm>
          <a:prstGeom prst="rect">
            <a:avLst/>
          </a:prstGeom>
          <a:solidFill>
            <a:srgbClr val="37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243584"/>
            <a:ext cx="3108960" cy="320040"/>
          </a:xfrm>
          <a:prstGeom prst="rect">
            <a:avLst/>
          </a:prstGeom>
          <a:noFill/>
        </p:spPr>
        <p:txBody>
          <a:bodyPr wrap="none">
            <a:spAutoFit/>
          </a:bodyPr>
          <a:lstStyle/>
          <a:p>
            <a:pPr>
              <a:defRPr b="1" sz="1700">
                <a:solidFill>
                  <a:srgbClr val="142B4B"/>
                </a:solidFill>
              </a:defRPr>
            </a:pPr>
            <a:r>
              <a:t>Data Centre Monitoring</a:t>
            </a:r>
          </a:p>
        </p:txBody>
      </p:sp>
      <p:sp>
        <p:nvSpPr>
          <p:cNvPr id="13" name="TextBox 12"/>
          <p:cNvSpPr txBox="1"/>
          <p:nvPr/>
        </p:nvSpPr>
        <p:spPr>
          <a:xfrm>
            <a:off x="4544568" y="1664207"/>
            <a:ext cx="3108960" cy="1280160"/>
          </a:xfrm>
          <a:prstGeom prst="rect">
            <a:avLst/>
          </a:prstGeom>
          <a:noFill/>
        </p:spPr>
        <p:txBody>
          <a:bodyPr wrap="square">
            <a:spAutoFit/>
          </a:bodyPr>
          <a:lstStyle/>
          <a:p>
            <a:pPr>
              <a:defRPr sz="1250">
                <a:solidFill>
                  <a:srgbClr val="232D3A"/>
                </a:solidFill>
              </a:defRPr>
            </a:pPr>
            <a:r>
              <a:t>Learned how dashboards track infrastructure health, environmental conditions, UPS status, alerts, servers, and network devices.</a:t>
            </a:r>
          </a:p>
        </p:txBody>
      </p:sp>
      <p:sp>
        <p:nvSpPr>
          <p:cNvPr id="14" name="Rounded Rectangle 13"/>
          <p:cNvSpPr/>
          <p:nvPr/>
        </p:nvSpPr>
        <p:spPr>
          <a:xfrm>
            <a:off x="8046720" y="1097280"/>
            <a:ext cx="3474720" cy="196596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097280"/>
            <a:ext cx="73152" cy="196596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243584"/>
            <a:ext cx="3108960" cy="320040"/>
          </a:xfrm>
          <a:prstGeom prst="rect">
            <a:avLst/>
          </a:prstGeom>
          <a:noFill/>
        </p:spPr>
        <p:txBody>
          <a:bodyPr wrap="none">
            <a:spAutoFit/>
          </a:bodyPr>
          <a:lstStyle/>
          <a:p>
            <a:pPr>
              <a:defRPr b="1" sz="1700">
                <a:solidFill>
                  <a:srgbClr val="142B4B"/>
                </a:solidFill>
              </a:defRPr>
            </a:pPr>
            <a:r>
              <a:t>Cybersecurity</a:t>
            </a:r>
          </a:p>
        </p:txBody>
      </p:sp>
      <p:sp>
        <p:nvSpPr>
          <p:cNvPr id="17" name="TextBox 16"/>
          <p:cNvSpPr txBox="1"/>
          <p:nvPr/>
        </p:nvSpPr>
        <p:spPr>
          <a:xfrm>
            <a:off x="8247888" y="1664207"/>
            <a:ext cx="3108960" cy="1280160"/>
          </a:xfrm>
          <a:prstGeom prst="rect">
            <a:avLst/>
          </a:prstGeom>
          <a:noFill/>
        </p:spPr>
        <p:txBody>
          <a:bodyPr wrap="square">
            <a:spAutoFit/>
          </a:bodyPr>
          <a:lstStyle/>
          <a:p>
            <a:pPr>
              <a:defRPr sz="1250">
                <a:solidFill>
                  <a:srgbClr val="232D3A"/>
                </a:solidFill>
              </a:defRPr>
            </a:pPr>
            <a:r>
              <a:t>Learned the importance of firewalls, IPS/IDS, access control, segmentation, secure remote access, logging, and physical security.</a:t>
            </a:r>
          </a:p>
        </p:txBody>
      </p:sp>
      <p:sp>
        <p:nvSpPr>
          <p:cNvPr id="18" name="TextBox 17"/>
          <p:cNvSpPr txBox="1"/>
          <p:nvPr/>
        </p:nvSpPr>
        <p:spPr>
          <a:xfrm>
            <a:off x="822960" y="3703320"/>
            <a:ext cx="10332720" cy="1920240"/>
          </a:xfrm>
          <a:prstGeom prst="rect">
            <a:avLst/>
          </a:prstGeom>
          <a:noFill/>
        </p:spPr>
        <p:txBody>
          <a:bodyPr wrap="square">
            <a:spAutoFit/>
          </a:bodyPr>
          <a:lstStyle/>
          <a:p>
            <a:pPr>
              <a:spcAft>
                <a:spcPts val="1000"/>
              </a:spcAft>
              <a:defRPr sz="1700">
                <a:solidFill>
                  <a:srgbClr val="232D3A"/>
                </a:solidFill>
              </a:defRPr>
            </a:pPr>
            <a:r>
              <a:t>• Developed a stronger understanding of how enterprise infrastructure is connected end-to-end.</a:t>
            </a:r>
          </a:p>
          <a:p>
            <a:pPr>
              <a:spcAft>
                <a:spcPts val="1000"/>
              </a:spcAft>
              <a:defRPr sz="1700">
                <a:solidFill>
                  <a:srgbClr val="232D3A"/>
                </a:solidFill>
              </a:defRPr>
            </a:pPr>
            <a:r>
              <a:t>• Learned that availability and security must be managed together rather than separately.</a:t>
            </a:r>
          </a:p>
          <a:p>
            <a:pPr>
              <a:spcAft>
                <a:spcPts val="1000"/>
              </a:spcAft>
              <a:defRPr sz="1700">
                <a:solidFill>
                  <a:srgbClr val="232D3A"/>
                </a:solidFill>
              </a:defRPr>
            </a:pPr>
            <a:r>
              <a:t>• Gained practical perspective on troubleshooting, monitoring, documentation, and preventive controls.</a:t>
            </a:r>
          </a:p>
          <a:p>
            <a:pPr>
              <a:spcAft>
                <a:spcPts val="1000"/>
              </a:spcAft>
              <a:defRPr sz="1700">
                <a:solidFill>
                  <a:srgbClr val="232D3A"/>
                </a:solidFill>
              </a:defRPr>
            </a:pPr>
            <a:r>
              <a:t>• Connected CSE theory with the operational needs of a real organization.</a:t>
            </a:r>
          </a:p>
        </p:txBody>
      </p:sp>
      <p:sp>
        <p:nvSpPr>
          <p:cNvPr id="19" name="Rectangle 18"/>
          <p:cNvSpPr/>
          <p:nvPr/>
        </p:nvSpPr>
        <p:spPr>
          <a:xfrm>
            <a:off x="502920" y="6510528"/>
            <a:ext cx="11155680" cy="10972"/>
          </a:xfrm>
          <a:prstGeom prst="rect">
            <a:avLst/>
          </a:prstGeom>
          <a:solidFill>
            <a:srgbClr val="DCE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6547104"/>
            <a:ext cx="7315200" cy="201168"/>
          </a:xfrm>
          <a:prstGeom prst="rect">
            <a:avLst/>
          </a:prstGeom>
          <a:noFill/>
        </p:spPr>
        <p:txBody>
          <a:bodyPr wrap="none">
            <a:spAutoFit/>
          </a:bodyPr>
          <a:lstStyle/>
          <a:p>
            <a:pPr>
              <a:defRPr sz="850">
                <a:solidFill>
                  <a:srgbClr val="69737D"/>
                </a:solidFill>
              </a:defRPr>
            </a:pPr>
            <a:r>
              <a:t>Summer Training • RSWM Limited • Jeevesh</a:t>
            </a:r>
          </a:p>
        </p:txBody>
      </p:sp>
      <p:sp>
        <p:nvSpPr>
          <p:cNvPr id="21" name="TextBox 20"/>
          <p:cNvSpPr txBox="1"/>
          <p:nvPr/>
        </p:nvSpPr>
        <p:spPr>
          <a:xfrm>
            <a:off x="11109960" y="6528816"/>
            <a:ext cx="502920" cy="201168"/>
          </a:xfrm>
          <a:prstGeom prst="rect">
            <a:avLst/>
          </a:prstGeom>
          <a:noFill/>
        </p:spPr>
        <p:txBody>
          <a:bodyPr wrap="none">
            <a:spAutoFit/>
          </a:bodyPr>
          <a:lstStyle/>
          <a:p>
            <a:pPr algn="r">
              <a:defRPr sz="900">
                <a:solidFill>
                  <a:srgbClr val="69737D"/>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789920" cy="640080"/>
          </a:xfrm>
          <a:prstGeom prst="rect">
            <a:avLst/>
          </a:prstGeom>
          <a:noFill/>
        </p:spPr>
        <p:txBody>
          <a:bodyPr wrap="none">
            <a:spAutoFit/>
          </a:bodyPr>
          <a:lstStyle/>
          <a:p>
            <a:pPr>
              <a:defRPr sz="3000" b="1">
                <a:solidFill>
                  <a:srgbClr val="FFFFFF"/>
                </a:solidFill>
              </a:defRPr>
            </a:pPr>
            <a:r>
              <a:t>FINAL TAKEAWAYS</a:t>
            </a:r>
          </a:p>
        </p:txBody>
      </p:sp>
      <p:sp>
        <p:nvSpPr>
          <p:cNvPr id="4" name="Rounded Rectangle 3"/>
          <p:cNvSpPr/>
          <p:nvPr/>
        </p:nvSpPr>
        <p:spPr>
          <a:xfrm>
            <a:off x="777240" y="1737360"/>
            <a:ext cx="3337560" cy="20574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737360"/>
            <a:ext cx="73152" cy="2057400"/>
          </a:xfrm>
          <a:prstGeom prst="rect">
            <a:avLst/>
          </a:prstGeom>
          <a:solidFill>
            <a:srgbClr val="2D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883664"/>
            <a:ext cx="2971800" cy="320040"/>
          </a:xfrm>
          <a:prstGeom prst="rect">
            <a:avLst/>
          </a:prstGeom>
          <a:noFill/>
        </p:spPr>
        <p:txBody>
          <a:bodyPr wrap="none">
            <a:spAutoFit/>
          </a:bodyPr>
          <a:lstStyle/>
          <a:p>
            <a:pPr>
              <a:defRPr b="1" sz="1700">
                <a:solidFill>
                  <a:srgbClr val="142B4B"/>
                </a:solidFill>
              </a:defRPr>
            </a:pPr>
            <a:r>
              <a:t>1 • CONNECT</a:t>
            </a:r>
          </a:p>
        </p:txBody>
      </p:sp>
      <p:sp>
        <p:nvSpPr>
          <p:cNvPr id="7" name="TextBox 6"/>
          <p:cNvSpPr txBox="1"/>
          <p:nvPr/>
        </p:nvSpPr>
        <p:spPr>
          <a:xfrm>
            <a:off x="978408" y="2304288"/>
            <a:ext cx="2971800" cy="1371600"/>
          </a:xfrm>
          <a:prstGeom prst="rect">
            <a:avLst/>
          </a:prstGeom>
          <a:noFill/>
        </p:spPr>
        <p:txBody>
          <a:bodyPr wrap="square">
            <a:spAutoFit/>
          </a:bodyPr>
          <a:lstStyle/>
          <a:p>
            <a:pPr>
              <a:defRPr sz="1250">
                <a:solidFill>
                  <a:srgbClr val="232D3A"/>
                </a:solidFill>
              </a:defRPr>
            </a:pPr>
            <a:r>
              <a:t>Networking creates the foundation for reliable communication between branches, users, servers, and services.</a:t>
            </a:r>
          </a:p>
        </p:txBody>
      </p:sp>
      <p:sp>
        <p:nvSpPr>
          <p:cNvPr id="8" name="Rounded Rectangle 7"/>
          <p:cNvSpPr/>
          <p:nvPr/>
        </p:nvSpPr>
        <p:spPr>
          <a:xfrm>
            <a:off x="4434840" y="1737360"/>
            <a:ext cx="3337560" cy="20574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34840" y="1737360"/>
            <a:ext cx="73152" cy="2057400"/>
          </a:xfrm>
          <a:prstGeom prst="rect">
            <a:avLst/>
          </a:prstGeom>
          <a:solidFill>
            <a:srgbClr val="3787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883664"/>
            <a:ext cx="2971800" cy="320040"/>
          </a:xfrm>
          <a:prstGeom prst="rect">
            <a:avLst/>
          </a:prstGeom>
          <a:noFill/>
        </p:spPr>
        <p:txBody>
          <a:bodyPr wrap="none">
            <a:spAutoFit/>
          </a:bodyPr>
          <a:lstStyle/>
          <a:p>
            <a:pPr>
              <a:defRPr b="1" sz="1700">
                <a:solidFill>
                  <a:srgbClr val="142B4B"/>
                </a:solidFill>
              </a:defRPr>
            </a:pPr>
            <a:r>
              <a:t>2 • MONITOR</a:t>
            </a:r>
          </a:p>
        </p:txBody>
      </p:sp>
      <p:sp>
        <p:nvSpPr>
          <p:cNvPr id="11" name="TextBox 10"/>
          <p:cNvSpPr txBox="1"/>
          <p:nvPr/>
        </p:nvSpPr>
        <p:spPr>
          <a:xfrm>
            <a:off x="4636007" y="2304288"/>
            <a:ext cx="2971800" cy="1371600"/>
          </a:xfrm>
          <a:prstGeom prst="rect">
            <a:avLst/>
          </a:prstGeom>
          <a:noFill/>
        </p:spPr>
        <p:txBody>
          <a:bodyPr wrap="square">
            <a:spAutoFit/>
          </a:bodyPr>
          <a:lstStyle/>
          <a:p>
            <a:pPr>
              <a:defRPr sz="1250">
                <a:solidFill>
                  <a:srgbClr val="232D3A"/>
                </a:solidFill>
              </a:defRPr>
            </a:pPr>
            <a:r>
              <a:t>Data centre monitoring turns infrastructure status and environmental readings into actionable visibility.</a:t>
            </a:r>
          </a:p>
        </p:txBody>
      </p:sp>
      <p:sp>
        <p:nvSpPr>
          <p:cNvPr id="12" name="Rounded Rectangle 11"/>
          <p:cNvSpPr/>
          <p:nvPr/>
        </p:nvSpPr>
        <p:spPr>
          <a:xfrm>
            <a:off x="8092440" y="1737360"/>
            <a:ext cx="3337560" cy="2057400"/>
          </a:xfrm>
          <a:prstGeom prst="roundRect">
            <a:avLst/>
          </a:prstGeom>
          <a:solidFill>
            <a:srgbClr val="F1F6FA"/>
          </a:solidFill>
          <a:ln>
            <a:solidFill>
              <a:srgbClr val="DCE7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737360"/>
            <a:ext cx="73152" cy="2057400"/>
          </a:xfrm>
          <a:prstGeom prst="rect">
            <a:avLst/>
          </a:prstGeom>
          <a:solidFill>
            <a:srgbClr val="B9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8" y="1883664"/>
            <a:ext cx="2971800" cy="320040"/>
          </a:xfrm>
          <a:prstGeom prst="rect">
            <a:avLst/>
          </a:prstGeom>
          <a:noFill/>
        </p:spPr>
        <p:txBody>
          <a:bodyPr wrap="none">
            <a:spAutoFit/>
          </a:bodyPr>
          <a:lstStyle/>
          <a:p>
            <a:pPr>
              <a:defRPr b="1" sz="1700">
                <a:solidFill>
                  <a:srgbClr val="142B4B"/>
                </a:solidFill>
              </a:defRPr>
            </a:pPr>
            <a:r>
              <a:t>3 • PROTECT</a:t>
            </a:r>
          </a:p>
        </p:txBody>
      </p:sp>
      <p:sp>
        <p:nvSpPr>
          <p:cNvPr id="15" name="TextBox 14"/>
          <p:cNvSpPr txBox="1"/>
          <p:nvPr/>
        </p:nvSpPr>
        <p:spPr>
          <a:xfrm>
            <a:off x="8293608" y="2304288"/>
            <a:ext cx="2971800" cy="1371600"/>
          </a:xfrm>
          <a:prstGeom prst="rect">
            <a:avLst/>
          </a:prstGeom>
          <a:noFill/>
        </p:spPr>
        <p:txBody>
          <a:bodyPr wrap="square">
            <a:spAutoFit/>
          </a:bodyPr>
          <a:lstStyle/>
          <a:p>
            <a:pPr>
              <a:defRPr sz="1250">
                <a:solidFill>
                  <a:srgbClr val="232D3A"/>
                </a:solidFill>
              </a:defRPr>
            </a:pPr>
            <a:r>
              <a:t>Layered security controls reduce unauthorized access and support business continuity.</a:t>
            </a:r>
          </a:p>
        </p:txBody>
      </p:sp>
      <p:sp>
        <p:nvSpPr>
          <p:cNvPr id="16" name="TextBox 15"/>
          <p:cNvSpPr txBox="1"/>
          <p:nvPr/>
        </p:nvSpPr>
        <p:spPr>
          <a:xfrm>
            <a:off x="914400" y="4572000"/>
            <a:ext cx="10332720" cy="1005840"/>
          </a:xfrm>
          <a:prstGeom prst="rect">
            <a:avLst/>
          </a:prstGeom>
          <a:noFill/>
        </p:spPr>
        <p:txBody>
          <a:bodyPr wrap="none">
            <a:spAutoFit/>
          </a:bodyPr>
          <a:lstStyle/>
          <a:p>
            <a:pPr algn="ctr">
              <a:defRPr sz="2200" b="1">
                <a:solidFill>
                  <a:srgbClr val="FFFFFF"/>
                </a:solidFill>
              </a:defRPr>
            </a:pPr>
            <a:r>
              <a:t>“How can strong monitoring and networking make an organization more secure and resilient?”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